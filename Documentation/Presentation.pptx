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Norwester" charset="1" panose="00000506000000000000"/>
      <p:regular r:id="rId21"/>
    </p:embeddedFont>
    <p:embeddedFont>
      <p:font typeface="Archivo Narrow Bold" charset="1" panose="020B0806020202020B04"/>
      <p:regular r:id="rId22"/>
    </p:embeddedFont>
    <p:embeddedFont>
      <p:font typeface="Helvetica World" charset="1" panose="020B0500040000020004"/>
      <p:regular r:id="rId23"/>
    </p:embeddedFont>
    <p:embeddedFont>
      <p:font typeface="Garet" charset="1" panose="00000000000000000000"/>
      <p:regular r:id="rId24"/>
    </p:embeddedFont>
    <p:embeddedFont>
      <p:font typeface="Helvetica World Bold" charset="1" panose="020B08000400000200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996033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35963" y="2628060"/>
            <a:ext cx="12616074" cy="493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4"/>
              </a:lnSpc>
            </a:pPr>
            <a:r>
              <a:rPr lang="en-US" sz="7389" spc="-362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DESIGN AND SIMULATION OF A SINGLE-CYCLE / PIPELINED RISC-V PROCESSOR</a:t>
            </a:r>
          </a:p>
          <a:p>
            <a:pPr algn="ctr">
              <a:lnSpc>
                <a:spcPts val="9754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5921917" y="104801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48114" y="6789511"/>
            <a:ext cx="11791771" cy="246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7"/>
              </a:lnSpc>
            </a:pPr>
            <a:r>
              <a:rPr lang="en-US" b="true" sz="3006" spc="-129">
                <a:solidFill>
                  <a:srgbClr val="C2DCFF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RANIA OSSAMA HASSAN 231001334</a:t>
            </a:r>
          </a:p>
          <a:p>
            <a:pPr algn="ctr">
              <a:lnSpc>
                <a:spcPts val="3967"/>
              </a:lnSpc>
            </a:pPr>
            <a:r>
              <a:rPr lang="en-US" b="true" sz="3006" spc="-129">
                <a:solidFill>
                  <a:srgbClr val="C2DCFF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ADHAM AHMED MOHAMED 221001783</a:t>
            </a:r>
          </a:p>
          <a:p>
            <a:pPr algn="ctr">
              <a:lnSpc>
                <a:spcPts val="3967"/>
              </a:lnSpc>
            </a:pPr>
            <a:r>
              <a:rPr lang="en-US" b="true" sz="3006" spc="-129">
                <a:solidFill>
                  <a:srgbClr val="C2DCFF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YOMNA MEDHAT SAAD 231000762</a:t>
            </a:r>
          </a:p>
          <a:p>
            <a:pPr algn="ctr">
              <a:lnSpc>
                <a:spcPts val="3967"/>
              </a:lnSpc>
            </a:pPr>
            <a:r>
              <a:rPr lang="en-US" b="true" sz="3006" spc="-129">
                <a:solidFill>
                  <a:srgbClr val="C2DCFF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MOHAMMED HESHAM 231000359</a:t>
            </a:r>
          </a:p>
          <a:p>
            <a:pPr algn="ctr">
              <a:lnSpc>
                <a:spcPts val="3967"/>
              </a:lnSpc>
              <a:spcBef>
                <a:spcPct val="0"/>
              </a:spcBef>
            </a:pPr>
            <a:r>
              <a:rPr lang="en-US" b="true" sz="3006" spc="-129">
                <a:solidFill>
                  <a:srgbClr val="C2DCFF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JOMANA AMIN 231001427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42975"/>
            <a:ext cx="6638493" cy="1193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9"/>
              </a:lnSpc>
            </a:pPr>
            <a:r>
              <a:rPr lang="en-US" sz="7310" spc="-35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AGENDA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70245"/>
            <a:ext cx="13232860" cy="430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905" indent="-355453" lvl="1">
              <a:lnSpc>
                <a:spcPts val="4280"/>
              </a:lnSpc>
              <a:buFont typeface="Arial"/>
              <a:buChar char="•"/>
            </a:pPr>
            <a:r>
              <a:rPr lang="en-US" sz="3292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Overview of the RISC-V processor project</a:t>
            </a:r>
          </a:p>
          <a:p>
            <a:pPr algn="l" marL="710905" indent="-355453" lvl="1">
              <a:lnSpc>
                <a:spcPts val="4280"/>
              </a:lnSpc>
              <a:buFont typeface="Arial"/>
              <a:buChar char="•"/>
            </a:pPr>
            <a:r>
              <a:rPr lang="en-US" sz="3292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ALU &amp; Arithmetic Logic Design</a:t>
            </a:r>
          </a:p>
          <a:p>
            <a:pPr algn="l" marL="710905" indent="-355453" lvl="1">
              <a:lnSpc>
                <a:spcPts val="4280"/>
              </a:lnSpc>
              <a:buFont typeface="Arial"/>
              <a:buChar char="•"/>
            </a:pPr>
            <a:r>
              <a:rPr lang="en-US" sz="3292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Control Unit (Main + ALU Control)</a:t>
            </a:r>
          </a:p>
          <a:p>
            <a:pPr algn="l" marL="710905" indent="-355453" lvl="1">
              <a:lnSpc>
                <a:spcPts val="4280"/>
              </a:lnSpc>
              <a:buFont typeface="Arial"/>
              <a:buChar char="•"/>
            </a:pPr>
            <a:r>
              <a:rPr lang="en-US" sz="3292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Register File &amp; Immediate Generator</a:t>
            </a:r>
          </a:p>
          <a:p>
            <a:pPr algn="l" marL="710905" indent="-355453" lvl="1">
              <a:lnSpc>
                <a:spcPts val="4280"/>
              </a:lnSpc>
              <a:buFont typeface="Arial"/>
              <a:buChar char="•"/>
            </a:pPr>
            <a:r>
              <a:rPr lang="en-US" sz="3292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Program Counter, Branch Logic &amp; PC Update</a:t>
            </a:r>
          </a:p>
          <a:p>
            <a:pPr algn="l" marL="710905" indent="-355453" lvl="1">
              <a:lnSpc>
                <a:spcPts val="4280"/>
              </a:lnSpc>
              <a:buFont typeface="Arial"/>
              <a:buChar char="•"/>
            </a:pPr>
            <a:r>
              <a:rPr lang="en-US" sz="3292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Instruction Memory, Data Memory &amp; Top-Level Integration</a:t>
            </a:r>
          </a:p>
          <a:p>
            <a:pPr algn="l" marL="710905" indent="-355453" lvl="1">
              <a:lnSpc>
                <a:spcPts val="4280"/>
              </a:lnSpc>
              <a:buFont typeface="Arial"/>
              <a:buChar char="•"/>
            </a:pPr>
            <a:r>
              <a:rPr lang="en-US" sz="3292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Simulation Results – Testbenches, PC updates, instruction execution, waveform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42975"/>
            <a:ext cx="7864941" cy="1193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9"/>
              </a:lnSpc>
            </a:pPr>
            <a:r>
              <a:rPr lang="en-US" sz="7310" spc="-35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54592"/>
            <a:ext cx="12627306" cy="4339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Design and implement a RISC-V processor in Verilog HDL.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Supports R-Type, I-Type, Load/Store, and Branch instructions.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Simulate both single-cycle and pipelined versions.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 the internal CPU structure: instruction fetch, decode, execute, memory, and write-back.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Verify module functionality using simulation waveforms.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Gain hands-on experience in CPU design, control signals, and datapath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1928" y="1597181"/>
            <a:ext cx="10791250" cy="754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6"/>
              </a:lnSpc>
              <a:spcBef>
                <a:spcPct val="0"/>
              </a:spcBef>
            </a:pPr>
          </a:p>
          <a:p>
            <a:pPr algn="ctr" marL="708846" indent="-354423" lvl="1">
              <a:lnSpc>
                <a:spcPts val="4596"/>
              </a:lnSpc>
              <a:spcBef>
                <a:spcPct val="0"/>
              </a:spcBef>
              <a:buFont typeface="Arial"/>
              <a:buChar char="•"/>
            </a:pPr>
            <a:r>
              <a:rPr lang="en-US" sz="32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Located in the Execute stage of the 5-stage pipeline</a:t>
            </a:r>
          </a:p>
          <a:p>
            <a:pPr algn="ctr">
              <a:lnSpc>
                <a:spcPts val="4596"/>
              </a:lnSpc>
              <a:spcBef>
                <a:spcPct val="0"/>
              </a:spcBef>
            </a:pPr>
          </a:p>
          <a:p>
            <a:pPr algn="ctr" marL="708846" indent="-354423" lvl="1">
              <a:lnSpc>
                <a:spcPts val="4596"/>
              </a:lnSpc>
              <a:spcBef>
                <a:spcPct val="0"/>
              </a:spcBef>
              <a:buFont typeface="Arial"/>
              <a:buChar char="•"/>
            </a:pPr>
            <a:r>
              <a:rPr lang="en-US" sz="32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Performs all RISC-V operations</a:t>
            </a:r>
          </a:p>
          <a:p>
            <a:pPr algn="ctr">
              <a:lnSpc>
                <a:spcPts val="4596"/>
              </a:lnSpc>
              <a:spcBef>
                <a:spcPct val="0"/>
              </a:spcBef>
            </a:pPr>
          </a:p>
          <a:p>
            <a:pPr algn="ctr" marL="708846" indent="-354423" lvl="1">
              <a:lnSpc>
                <a:spcPts val="4596"/>
              </a:lnSpc>
              <a:spcBef>
                <a:spcPct val="0"/>
              </a:spcBef>
              <a:buFont typeface="Arial"/>
              <a:buChar char="•"/>
            </a:pPr>
            <a:r>
              <a:rPr lang="en-US" sz="32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Uses signed comparison for slt  (-5 &lt; 10  result = 1)</a:t>
            </a:r>
          </a:p>
          <a:p>
            <a:pPr algn="ctr">
              <a:lnSpc>
                <a:spcPts val="4596"/>
              </a:lnSpc>
              <a:spcBef>
                <a:spcPct val="0"/>
              </a:spcBef>
            </a:pPr>
          </a:p>
          <a:p>
            <a:pPr algn="ctr" marL="708846" indent="-354423" lvl="1">
              <a:lnSpc>
                <a:spcPts val="4596"/>
              </a:lnSpc>
              <a:spcBef>
                <a:spcPct val="0"/>
              </a:spcBef>
              <a:buFont typeface="Arial"/>
              <a:buChar char="•"/>
            </a:pPr>
            <a:r>
              <a:rPr lang="en-US" sz="32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Outputs a Zero flag using beq to detect equality</a:t>
            </a:r>
          </a:p>
          <a:p>
            <a:pPr algn="ctr">
              <a:lnSpc>
                <a:spcPts val="4596"/>
              </a:lnSpc>
              <a:spcBef>
                <a:spcPct val="0"/>
              </a:spcBef>
            </a:pPr>
          </a:p>
          <a:p>
            <a:pPr algn="ctr" marL="708846" indent="-354423" lvl="1">
              <a:lnSpc>
                <a:spcPts val="4596"/>
              </a:lnSpc>
              <a:spcBef>
                <a:spcPct val="0"/>
              </a:spcBef>
              <a:buFont typeface="Arial"/>
              <a:buChar char="•"/>
            </a:pPr>
            <a:r>
              <a:rPr lang="en-US" sz="32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Purely combinational  (no clock or reset needed)</a:t>
            </a:r>
          </a:p>
          <a:p>
            <a:pPr algn="ctr">
              <a:lnSpc>
                <a:spcPts val="4596"/>
              </a:lnSpc>
              <a:spcBef>
                <a:spcPct val="0"/>
              </a:spcBef>
            </a:pPr>
          </a:p>
          <a:p>
            <a:pPr algn="ctr" marL="708846" indent="-354423" lvl="1">
              <a:lnSpc>
                <a:spcPts val="4596"/>
              </a:lnSpc>
              <a:spcBef>
                <a:spcPct val="0"/>
              </a:spcBef>
              <a:buFont typeface="Arial"/>
              <a:buChar char="•"/>
            </a:pPr>
            <a:r>
              <a:rPr lang="en-US" sz="32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Controlled by 4-bit ALUCtl from the ALU Control Unit</a:t>
            </a:r>
          </a:p>
          <a:p>
            <a:pPr algn="ctr" marL="708846" indent="-354423" lvl="1">
              <a:lnSpc>
                <a:spcPts val="4596"/>
              </a:lnSpc>
              <a:spcBef>
                <a:spcPct val="0"/>
              </a:spcBef>
              <a:buFont typeface="Arial"/>
              <a:buChar char="•"/>
            </a:pPr>
            <a:r>
              <a:rPr lang="en-US" sz="32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Verified with full testbench (all operations tested)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9016" y="398602"/>
            <a:ext cx="11970410" cy="97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1"/>
              </a:lnSpc>
            </a:pPr>
            <a:r>
              <a:rPr lang="en-US" sz="5910" spc="-28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ALU &amp; ARITHMETIC LOGIC DESIGN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146434" y="1654331"/>
            <a:ext cx="7141566" cy="7912458"/>
          </a:xfrm>
          <a:custGeom>
            <a:avLst/>
            <a:gdLst/>
            <a:ahLst/>
            <a:cxnLst/>
            <a:rect r="r" b="b" t="t" l="l"/>
            <a:pathLst>
              <a:path h="7912458" w="7141566">
                <a:moveTo>
                  <a:pt x="0" y="0"/>
                </a:moveTo>
                <a:lnTo>
                  <a:pt x="7141566" y="0"/>
                </a:lnTo>
                <a:lnTo>
                  <a:pt x="7141566" y="7912457"/>
                </a:lnTo>
                <a:lnTo>
                  <a:pt x="0" y="79124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5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60753" y="2143189"/>
            <a:ext cx="7427247" cy="8143811"/>
          </a:xfrm>
          <a:custGeom>
            <a:avLst/>
            <a:gdLst/>
            <a:ahLst/>
            <a:cxnLst/>
            <a:rect r="r" b="b" t="t" l="l"/>
            <a:pathLst>
              <a:path h="8143811" w="7427247">
                <a:moveTo>
                  <a:pt x="0" y="0"/>
                </a:moveTo>
                <a:lnTo>
                  <a:pt x="7427247" y="0"/>
                </a:lnTo>
                <a:lnTo>
                  <a:pt x="7427247" y="8143811"/>
                </a:lnTo>
                <a:lnTo>
                  <a:pt x="0" y="8143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9016" y="398602"/>
            <a:ext cx="11970410" cy="97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1"/>
              </a:lnSpc>
            </a:pPr>
            <a:r>
              <a:rPr lang="en-US" sz="5910" spc="-28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ALU &amp; ARITHMETIC LOGIC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1722" y="2066989"/>
            <a:ext cx="6750485" cy="72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7"/>
              </a:lnSpc>
              <a:spcBef>
                <a:spcPct val="0"/>
              </a:spcBef>
            </a:pPr>
            <a:r>
              <a:rPr lang="en-US" sz="4319">
                <a:solidFill>
                  <a:srgbClr val="38B6FF"/>
                </a:solidFill>
                <a:latin typeface="Garet"/>
                <a:ea typeface="Garet"/>
                <a:cs typeface="Garet"/>
                <a:sym typeface="Garet"/>
              </a:rPr>
              <a:t>ALU Control Codes (ALUCtl)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57524" y="2063888"/>
            <a:ext cx="9685042" cy="3983698"/>
          </a:xfrm>
          <a:custGeom>
            <a:avLst/>
            <a:gdLst/>
            <a:ahLst/>
            <a:cxnLst/>
            <a:rect r="r" b="b" t="t" l="l"/>
            <a:pathLst>
              <a:path h="3983698" w="9685042">
                <a:moveTo>
                  <a:pt x="0" y="0"/>
                </a:moveTo>
                <a:lnTo>
                  <a:pt x="9685042" y="0"/>
                </a:lnTo>
                <a:lnTo>
                  <a:pt x="9685042" y="3983698"/>
                </a:lnTo>
                <a:lnTo>
                  <a:pt x="0" y="3983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57524" y="6401126"/>
            <a:ext cx="9596525" cy="3305041"/>
          </a:xfrm>
          <a:custGeom>
            <a:avLst/>
            <a:gdLst/>
            <a:ahLst/>
            <a:cxnLst/>
            <a:rect r="r" b="b" t="t" l="l"/>
            <a:pathLst>
              <a:path h="3305041" w="9596525">
                <a:moveTo>
                  <a:pt x="0" y="0"/>
                </a:moveTo>
                <a:lnTo>
                  <a:pt x="9596525" y="0"/>
                </a:lnTo>
                <a:lnTo>
                  <a:pt x="9596525" y="3305041"/>
                </a:lnTo>
                <a:lnTo>
                  <a:pt x="0" y="3305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85" r="0" b="-148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0601" y="1318183"/>
            <a:ext cx="7432871" cy="7350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  <a:spcBef>
                <a:spcPct val="0"/>
              </a:spcBef>
            </a:pPr>
          </a:p>
          <a:p>
            <a:pPr algn="ctr" marL="642164" indent="-321082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297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Located in the Decode stage of the 5-stage pipeline</a:t>
            </a:r>
          </a:p>
          <a:p>
            <a:pPr algn="ctr">
              <a:lnSpc>
                <a:spcPts val="4164"/>
              </a:lnSpc>
              <a:spcBef>
                <a:spcPct val="0"/>
              </a:spcBef>
            </a:pPr>
          </a:p>
          <a:p>
            <a:pPr algn="ctr" marL="642164" indent="-321082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297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Generates control signals based on opcode and finds what type of instruction the ALU will do (R-type, I-type ... etc)</a:t>
            </a:r>
          </a:p>
          <a:p>
            <a:pPr algn="ctr">
              <a:lnSpc>
                <a:spcPts val="4164"/>
              </a:lnSpc>
              <a:spcBef>
                <a:spcPct val="0"/>
              </a:spcBef>
            </a:pPr>
          </a:p>
          <a:p>
            <a:pPr algn="ctr">
              <a:lnSpc>
                <a:spcPts val="4164"/>
              </a:lnSpc>
              <a:spcBef>
                <a:spcPct val="0"/>
              </a:spcBef>
            </a:pPr>
          </a:p>
          <a:p>
            <a:pPr algn="ctr" marL="642164" indent="-321082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297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Purely combinational  (no clock or reset needed)</a:t>
            </a:r>
          </a:p>
          <a:p>
            <a:pPr algn="ctr">
              <a:lnSpc>
                <a:spcPts val="4164"/>
              </a:lnSpc>
              <a:spcBef>
                <a:spcPct val="0"/>
              </a:spcBef>
            </a:pPr>
          </a:p>
          <a:p>
            <a:pPr algn="ctr" marL="642164" indent="-321082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297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Verified with full testbench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9016" y="398602"/>
            <a:ext cx="11970410" cy="97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1"/>
              </a:lnSpc>
            </a:pPr>
            <a:r>
              <a:rPr lang="en-US" sz="5910" spc="-28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CONTROL UNIT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354225" y="4473666"/>
          <a:ext cx="7315200" cy="5133975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INSTRUCTION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I -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addi, andi, ld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 -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B -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beq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Shift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slli, srli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942975"/>
            <a:ext cx="7864941" cy="109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2"/>
              </a:lnSpc>
            </a:pPr>
            <a:r>
              <a:rPr lang="en-US" sz="6600" spc="-323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IMMEDIATE GENERATOR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17596"/>
            <a:ext cx="12627306" cy="271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Extracts and sign-extends immediates from instructions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I-type, S-type and B-type instructions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Handles shift-immediates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Combinational logic</a:t>
            </a:r>
          </a:p>
          <a:p>
            <a:pPr algn="l">
              <a:lnSpc>
                <a:spcPts val="427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45051"/>
            <a:ext cx="8401137" cy="241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9"/>
              </a:lnSpc>
            </a:pPr>
            <a:r>
              <a:rPr lang="en-US" sz="7310" spc="-35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REGISTER FILE &amp;</a:t>
            </a:r>
          </a:p>
          <a:p>
            <a:pPr algn="l">
              <a:lnSpc>
                <a:spcPts val="9649"/>
              </a:lnSpc>
            </a:pPr>
            <a:r>
              <a:rPr lang="en-US" sz="7310" spc="-35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IMMEDIATE GENERATOR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041943"/>
            <a:ext cx="5815634" cy="325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32 Registers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x0 always 0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Two read ports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One write port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Synchronous write</a:t>
            </a:r>
          </a:p>
          <a:p>
            <a:pPr algn="l" marL="710312" indent="-355156" lvl="1">
              <a:lnSpc>
                <a:spcPts val="4277"/>
              </a:lnSpc>
              <a:buFont typeface="Arial"/>
              <a:buChar char="•"/>
            </a:pPr>
            <a:r>
              <a:rPr lang="en-US" sz="3290" spc="-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Asynchronous read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982221" y="1959735"/>
            <a:ext cx="2885660" cy="1122271"/>
            <a:chOff x="0" y="0"/>
            <a:chExt cx="760009" cy="2955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0009" cy="295578"/>
            </a:xfrm>
            <a:custGeom>
              <a:avLst/>
              <a:gdLst/>
              <a:ahLst/>
              <a:cxnLst/>
              <a:rect r="r" b="b" t="t" l="l"/>
              <a:pathLst>
                <a:path h="295578" w="760009">
                  <a:moveTo>
                    <a:pt x="45609" y="0"/>
                  </a:moveTo>
                  <a:lnTo>
                    <a:pt x="714400" y="0"/>
                  </a:lnTo>
                  <a:cubicBezTo>
                    <a:pt x="726496" y="0"/>
                    <a:pt x="738097" y="4805"/>
                    <a:pt x="746651" y="13359"/>
                  </a:cubicBezTo>
                  <a:cubicBezTo>
                    <a:pt x="755204" y="21912"/>
                    <a:pt x="760009" y="33513"/>
                    <a:pt x="760009" y="45609"/>
                  </a:cubicBezTo>
                  <a:lnTo>
                    <a:pt x="760009" y="249968"/>
                  </a:lnTo>
                  <a:cubicBezTo>
                    <a:pt x="760009" y="275158"/>
                    <a:pt x="739589" y="295578"/>
                    <a:pt x="714400" y="295578"/>
                  </a:cubicBezTo>
                  <a:lnTo>
                    <a:pt x="45609" y="295578"/>
                  </a:lnTo>
                  <a:cubicBezTo>
                    <a:pt x="20420" y="295578"/>
                    <a:pt x="0" y="275158"/>
                    <a:pt x="0" y="249968"/>
                  </a:cubicBezTo>
                  <a:lnTo>
                    <a:pt x="0" y="45609"/>
                  </a:lnTo>
                  <a:cubicBezTo>
                    <a:pt x="0" y="20420"/>
                    <a:pt x="20420" y="0"/>
                    <a:pt x="45609" y="0"/>
                  </a:cubicBezTo>
                  <a:close/>
                </a:path>
              </a:pathLst>
            </a:custGeom>
            <a:solidFill>
              <a:srgbClr val="0E21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60009" cy="34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Instruction [31:0]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96561" y="4430533"/>
            <a:ext cx="2885660" cy="1098520"/>
            <a:chOff x="0" y="0"/>
            <a:chExt cx="760009" cy="2893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0009" cy="289322"/>
            </a:xfrm>
            <a:custGeom>
              <a:avLst/>
              <a:gdLst/>
              <a:ahLst/>
              <a:cxnLst/>
              <a:rect r="r" b="b" t="t" l="l"/>
              <a:pathLst>
                <a:path h="289322" w="760009">
                  <a:moveTo>
                    <a:pt x="45609" y="0"/>
                  </a:moveTo>
                  <a:lnTo>
                    <a:pt x="714400" y="0"/>
                  </a:lnTo>
                  <a:cubicBezTo>
                    <a:pt x="726496" y="0"/>
                    <a:pt x="738097" y="4805"/>
                    <a:pt x="746651" y="13359"/>
                  </a:cubicBezTo>
                  <a:cubicBezTo>
                    <a:pt x="755204" y="21912"/>
                    <a:pt x="760009" y="33513"/>
                    <a:pt x="760009" y="45609"/>
                  </a:cubicBezTo>
                  <a:lnTo>
                    <a:pt x="760009" y="243713"/>
                  </a:lnTo>
                  <a:cubicBezTo>
                    <a:pt x="760009" y="268902"/>
                    <a:pt x="739589" y="289322"/>
                    <a:pt x="714400" y="289322"/>
                  </a:cubicBezTo>
                  <a:lnTo>
                    <a:pt x="45609" y="289322"/>
                  </a:lnTo>
                  <a:cubicBezTo>
                    <a:pt x="20420" y="289322"/>
                    <a:pt x="0" y="268902"/>
                    <a:pt x="0" y="243713"/>
                  </a:cubicBezTo>
                  <a:lnTo>
                    <a:pt x="0" y="45609"/>
                  </a:lnTo>
                  <a:cubicBezTo>
                    <a:pt x="0" y="20420"/>
                    <a:pt x="20420" y="0"/>
                    <a:pt x="45609" y="0"/>
                  </a:cubicBezTo>
                  <a:close/>
                </a:path>
              </a:pathLst>
            </a:custGeom>
            <a:solidFill>
              <a:srgbClr val="0E21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60009" cy="336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Immediate Generator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867881" y="4428591"/>
            <a:ext cx="2885660" cy="1098520"/>
            <a:chOff x="0" y="0"/>
            <a:chExt cx="760009" cy="289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0009" cy="289322"/>
            </a:xfrm>
            <a:custGeom>
              <a:avLst/>
              <a:gdLst/>
              <a:ahLst/>
              <a:cxnLst/>
              <a:rect r="r" b="b" t="t" l="l"/>
              <a:pathLst>
                <a:path h="289322" w="760009">
                  <a:moveTo>
                    <a:pt x="45609" y="0"/>
                  </a:moveTo>
                  <a:lnTo>
                    <a:pt x="714400" y="0"/>
                  </a:lnTo>
                  <a:cubicBezTo>
                    <a:pt x="726496" y="0"/>
                    <a:pt x="738097" y="4805"/>
                    <a:pt x="746651" y="13359"/>
                  </a:cubicBezTo>
                  <a:cubicBezTo>
                    <a:pt x="755204" y="21912"/>
                    <a:pt x="760009" y="33513"/>
                    <a:pt x="760009" y="45609"/>
                  </a:cubicBezTo>
                  <a:lnTo>
                    <a:pt x="760009" y="243713"/>
                  </a:lnTo>
                  <a:cubicBezTo>
                    <a:pt x="760009" y="268902"/>
                    <a:pt x="739589" y="289322"/>
                    <a:pt x="714400" y="289322"/>
                  </a:cubicBezTo>
                  <a:lnTo>
                    <a:pt x="45609" y="289322"/>
                  </a:lnTo>
                  <a:cubicBezTo>
                    <a:pt x="20420" y="289322"/>
                    <a:pt x="0" y="268902"/>
                    <a:pt x="0" y="243713"/>
                  </a:cubicBezTo>
                  <a:lnTo>
                    <a:pt x="0" y="45609"/>
                  </a:lnTo>
                  <a:cubicBezTo>
                    <a:pt x="0" y="20420"/>
                    <a:pt x="20420" y="0"/>
                    <a:pt x="45609" y="0"/>
                  </a:cubicBezTo>
                  <a:close/>
                </a:path>
              </a:pathLst>
            </a:custGeom>
            <a:solidFill>
              <a:srgbClr val="0E21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60009" cy="336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Register File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96561" y="6391054"/>
            <a:ext cx="2885660" cy="1237534"/>
            <a:chOff x="0" y="0"/>
            <a:chExt cx="760009" cy="3259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0009" cy="325935"/>
            </a:xfrm>
            <a:custGeom>
              <a:avLst/>
              <a:gdLst/>
              <a:ahLst/>
              <a:cxnLst/>
              <a:rect r="r" b="b" t="t" l="l"/>
              <a:pathLst>
                <a:path h="325935" w="760009">
                  <a:moveTo>
                    <a:pt x="45609" y="0"/>
                  </a:moveTo>
                  <a:lnTo>
                    <a:pt x="714400" y="0"/>
                  </a:lnTo>
                  <a:cubicBezTo>
                    <a:pt x="726496" y="0"/>
                    <a:pt x="738097" y="4805"/>
                    <a:pt x="746651" y="13359"/>
                  </a:cubicBezTo>
                  <a:cubicBezTo>
                    <a:pt x="755204" y="21912"/>
                    <a:pt x="760009" y="33513"/>
                    <a:pt x="760009" y="45609"/>
                  </a:cubicBezTo>
                  <a:lnTo>
                    <a:pt x="760009" y="280326"/>
                  </a:lnTo>
                  <a:cubicBezTo>
                    <a:pt x="760009" y="305515"/>
                    <a:pt x="739589" y="325935"/>
                    <a:pt x="714400" y="325935"/>
                  </a:cubicBezTo>
                  <a:lnTo>
                    <a:pt x="45609" y="325935"/>
                  </a:lnTo>
                  <a:cubicBezTo>
                    <a:pt x="20420" y="325935"/>
                    <a:pt x="0" y="305515"/>
                    <a:pt x="0" y="280326"/>
                  </a:cubicBezTo>
                  <a:lnTo>
                    <a:pt x="0" y="45609"/>
                  </a:lnTo>
                  <a:cubicBezTo>
                    <a:pt x="0" y="20420"/>
                    <a:pt x="20420" y="0"/>
                    <a:pt x="45609" y="0"/>
                  </a:cubicBezTo>
                  <a:close/>
                </a:path>
              </a:pathLst>
            </a:custGeom>
            <a:solidFill>
              <a:srgbClr val="0E213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60009" cy="373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Immediate Generator Output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867881" y="6460561"/>
            <a:ext cx="2885660" cy="1098520"/>
            <a:chOff x="0" y="0"/>
            <a:chExt cx="760009" cy="2893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0009" cy="289322"/>
            </a:xfrm>
            <a:custGeom>
              <a:avLst/>
              <a:gdLst/>
              <a:ahLst/>
              <a:cxnLst/>
              <a:rect r="r" b="b" t="t" l="l"/>
              <a:pathLst>
                <a:path h="289322" w="760009">
                  <a:moveTo>
                    <a:pt x="45609" y="0"/>
                  </a:moveTo>
                  <a:lnTo>
                    <a:pt x="714400" y="0"/>
                  </a:lnTo>
                  <a:cubicBezTo>
                    <a:pt x="726496" y="0"/>
                    <a:pt x="738097" y="4805"/>
                    <a:pt x="746651" y="13359"/>
                  </a:cubicBezTo>
                  <a:cubicBezTo>
                    <a:pt x="755204" y="21912"/>
                    <a:pt x="760009" y="33513"/>
                    <a:pt x="760009" y="45609"/>
                  </a:cubicBezTo>
                  <a:lnTo>
                    <a:pt x="760009" y="243713"/>
                  </a:lnTo>
                  <a:cubicBezTo>
                    <a:pt x="760009" y="268902"/>
                    <a:pt x="739589" y="289322"/>
                    <a:pt x="714400" y="289322"/>
                  </a:cubicBezTo>
                  <a:lnTo>
                    <a:pt x="45609" y="289322"/>
                  </a:lnTo>
                  <a:cubicBezTo>
                    <a:pt x="20420" y="289322"/>
                    <a:pt x="0" y="268902"/>
                    <a:pt x="0" y="243713"/>
                  </a:cubicBezTo>
                  <a:lnTo>
                    <a:pt x="0" y="45609"/>
                  </a:lnTo>
                  <a:cubicBezTo>
                    <a:pt x="0" y="20420"/>
                    <a:pt x="20420" y="0"/>
                    <a:pt x="45609" y="0"/>
                  </a:cubicBezTo>
                  <a:close/>
                </a:path>
              </a:pathLst>
            </a:custGeom>
            <a:solidFill>
              <a:srgbClr val="0E213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60009" cy="336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rs1, rs2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96561" y="8490590"/>
            <a:ext cx="2885660" cy="1098520"/>
            <a:chOff x="0" y="0"/>
            <a:chExt cx="760009" cy="2893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0009" cy="289322"/>
            </a:xfrm>
            <a:custGeom>
              <a:avLst/>
              <a:gdLst/>
              <a:ahLst/>
              <a:cxnLst/>
              <a:rect r="r" b="b" t="t" l="l"/>
              <a:pathLst>
                <a:path h="289322" w="760009">
                  <a:moveTo>
                    <a:pt x="45609" y="0"/>
                  </a:moveTo>
                  <a:lnTo>
                    <a:pt x="714400" y="0"/>
                  </a:lnTo>
                  <a:cubicBezTo>
                    <a:pt x="726496" y="0"/>
                    <a:pt x="738097" y="4805"/>
                    <a:pt x="746651" y="13359"/>
                  </a:cubicBezTo>
                  <a:cubicBezTo>
                    <a:pt x="755204" y="21912"/>
                    <a:pt x="760009" y="33513"/>
                    <a:pt x="760009" y="45609"/>
                  </a:cubicBezTo>
                  <a:lnTo>
                    <a:pt x="760009" y="243713"/>
                  </a:lnTo>
                  <a:cubicBezTo>
                    <a:pt x="760009" y="268902"/>
                    <a:pt x="739589" y="289322"/>
                    <a:pt x="714400" y="289322"/>
                  </a:cubicBezTo>
                  <a:lnTo>
                    <a:pt x="45609" y="289322"/>
                  </a:lnTo>
                  <a:cubicBezTo>
                    <a:pt x="20420" y="289322"/>
                    <a:pt x="0" y="268902"/>
                    <a:pt x="0" y="243713"/>
                  </a:cubicBezTo>
                  <a:lnTo>
                    <a:pt x="0" y="45609"/>
                  </a:lnTo>
                  <a:cubicBezTo>
                    <a:pt x="0" y="20420"/>
                    <a:pt x="20420" y="0"/>
                    <a:pt x="45609" y="0"/>
                  </a:cubicBezTo>
                  <a:close/>
                </a:path>
              </a:pathLst>
            </a:custGeom>
            <a:solidFill>
              <a:srgbClr val="0E213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60009" cy="336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ALU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67881" y="8490590"/>
            <a:ext cx="2885660" cy="1098520"/>
            <a:chOff x="0" y="0"/>
            <a:chExt cx="760009" cy="2893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0009" cy="289322"/>
            </a:xfrm>
            <a:custGeom>
              <a:avLst/>
              <a:gdLst/>
              <a:ahLst/>
              <a:cxnLst/>
              <a:rect r="r" b="b" t="t" l="l"/>
              <a:pathLst>
                <a:path h="289322" w="760009">
                  <a:moveTo>
                    <a:pt x="45609" y="0"/>
                  </a:moveTo>
                  <a:lnTo>
                    <a:pt x="714400" y="0"/>
                  </a:lnTo>
                  <a:cubicBezTo>
                    <a:pt x="726496" y="0"/>
                    <a:pt x="738097" y="4805"/>
                    <a:pt x="746651" y="13359"/>
                  </a:cubicBezTo>
                  <a:cubicBezTo>
                    <a:pt x="755204" y="21912"/>
                    <a:pt x="760009" y="33513"/>
                    <a:pt x="760009" y="45609"/>
                  </a:cubicBezTo>
                  <a:lnTo>
                    <a:pt x="760009" y="243713"/>
                  </a:lnTo>
                  <a:cubicBezTo>
                    <a:pt x="760009" y="268902"/>
                    <a:pt x="739589" y="289322"/>
                    <a:pt x="714400" y="289322"/>
                  </a:cubicBezTo>
                  <a:lnTo>
                    <a:pt x="45609" y="289322"/>
                  </a:lnTo>
                  <a:cubicBezTo>
                    <a:pt x="20420" y="289322"/>
                    <a:pt x="0" y="268902"/>
                    <a:pt x="0" y="243713"/>
                  </a:cubicBezTo>
                  <a:lnTo>
                    <a:pt x="0" y="45609"/>
                  </a:lnTo>
                  <a:cubicBezTo>
                    <a:pt x="0" y="20420"/>
                    <a:pt x="20420" y="0"/>
                    <a:pt x="45609" y="0"/>
                  </a:cubicBezTo>
                  <a:close/>
                </a:path>
              </a:pathLst>
            </a:custGeom>
            <a:solidFill>
              <a:srgbClr val="0E213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60009" cy="336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ALU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10539391" y="2520871"/>
            <a:ext cx="1442830" cy="190966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4867881" y="2520871"/>
            <a:ext cx="1442830" cy="190772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0539391" y="5529053"/>
            <a:ext cx="0" cy="86200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10539391" y="7628589"/>
            <a:ext cx="0" cy="86200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V="true">
            <a:off x="16310711" y="5527111"/>
            <a:ext cx="0" cy="9334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16310711" y="7559082"/>
            <a:ext cx="0" cy="93150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1456" y="2460763"/>
            <a:ext cx="8577844" cy="6797537"/>
          </a:xfrm>
          <a:custGeom>
            <a:avLst/>
            <a:gdLst/>
            <a:ahLst/>
            <a:cxnLst/>
            <a:rect r="r" b="b" t="t" l="l"/>
            <a:pathLst>
              <a:path h="6797537" w="8577844">
                <a:moveTo>
                  <a:pt x="0" y="0"/>
                </a:moveTo>
                <a:lnTo>
                  <a:pt x="8577844" y="0"/>
                </a:lnTo>
                <a:lnTo>
                  <a:pt x="8577844" y="6797537"/>
                </a:lnTo>
                <a:lnTo>
                  <a:pt x="0" y="6797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13427679" cy="119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3"/>
              </a:lnSpc>
            </a:pPr>
            <a:r>
              <a:rPr lang="en-US" sz="7305" spc="-357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PROGRAM COUNTER &amp; BRANCH LOGIC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94050"/>
            <a:ext cx="6466604" cy="646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0962" indent="-310481" lvl="1">
              <a:lnSpc>
                <a:spcPts val="3739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Designed the Program Counter (PC) unit for instruction sequencing.</a:t>
            </a:r>
          </a:p>
          <a:p>
            <a:pPr algn="l" marL="620962" indent="-310481" lvl="1">
              <a:lnSpc>
                <a:spcPts val="3739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PC handles two cases:</a:t>
            </a:r>
          </a:p>
          <a:p>
            <a:pPr algn="l" marL="620962" indent="-310481" lvl="1">
              <a:lnSpc>
                <a:spcPts val="3739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Normal instruction: PC increments by 4.</a:t>
            </a:r>
          </a:p>
          <a:p>
            <a:pPr algn="l" marL="620962" indent="-310481" lvl="1">
              <a:lnSpc>
                <a:spcPts val="3739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Branch taken: PC updated to branch target address.</a:t>
            </a:r>
          </a:p>
          <a:p>
            <a:pPr algn="l" marL="620962" indent="-310481" lvl="1">
              <a:lnSpc>
                <a:spcPts val="3739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Implemented asynchronous reset to initialize PC to zero.</a:t>
            </a:r>
          </a:p>
          <a:p>
            <a:pPr algn="l" marL="620962" indent="-310481" lvl="1">
              <a:lnSpc>
                <a:spcPts val="3739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Added control signals:</a:t>
            </a:r>
          </a:p>
          <a:p>
            <a:pPr algn="l" marL="620962" indent="-310481" lvl="1">
              <a:lnSpc>
                <a:spcPts val="3739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PCWrite → allows stalling of PC.</a:t>
            </a:r>
          </a:p>
          <a:p>
            <a:pPr algn="l" marL="620962" indent="-310481" lvl="1">
              <a:lnSpc>
                <a:spcPts val="3739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BranchTaken → indicates if a branch is taken.</a:t>
            </a:r>
          </a:p>
          <a:p>
            <a:pPr algn="l">
              <a:lnSpc>
                <a:spcPts val="373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91148" y="5143500"/>
            <a:ext cx="11068152" cy="4114800"/>
          </a:xfrm>
          <a:custGeom>
            <a:avLst/>
            <a:gdLst/>
            <a:ahLst/>
            <a:cxnLst/>
            <a:rect r="r" b="b" t="t" l="l"/>
            <a:pathLst>
              <a:path h="4114800" w="11068152">
                <a:moveTo>
                  <a:pt x="0" y="0"/>
                </a:moveTo>
                <a:lnTo>
                  <a:pt x="11068152" y="0"/>
                </a:lnTo>
                <a:lnTo>
                  <a:pt x="110681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13427679" cy="119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3"/>
              </a:lnSpc>
            </a:pPr>
            <a:r>
              <a:rPr lang="en-US" sz="7305" spc="-357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PROGRAM COUNTER &amp; BRANCH LOGIC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39951"/>
            <a:ext cx="6466604" cy="230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0962" indent="-310481" lvl="1">
              <a:lnSpc>
                <a:spcPts val="3739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Tested functionality using simulation:</a:t>
            </a:r>
          </a:p>
          <a:p>
            <a:pPr algn="l" marL="620962" indent="-310481" lvl="1">
              <a:lnSpc>
                <a:spcPts val="3739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Normal PC increment</a:t>
            </a:r>
          </a:p>
          <a:p>
            <a:pPr algn="l" marL="620962" indent="-310481" lvl="1">
              <a:lnSpc>
                <a:spcPts val="3739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Branch taken</a:t>
            </a:r>
          </a:p>
          <a:p>
            <a:pPr algn="l" marL="620962" indent="-310481" lvl="1">
              <a:lnSpc>
                <a:spcPts val="3739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Branch not taken</a:t>
            </a:r>
          </a:p>
          <a:p>
            <a:pPr algn="l">
              <a:lnSpc>
                <a:spcPts val="373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70042" y="5143500"/>
            <a:ext cx="6791551" cy="4989739"/>
          </a:xfrm>
          <a:custGeom>
            <a:avLst/>
            <a:gdLst/>
            <a:ahLst/>
            <a:cxnLst/>
            <a:rect r="r" b="b" t="t" l="l"/>
            <a:pathLst>
              <a:path h="4989739" w="6791551">
                <a:moveTo>
                  <a:pt x="0" y="0"/>
                </a:moveTo>
                <a:lnTo>
                  <a:pt x="6791551" y="0"/>
                </a:lnTo>
                <a:lnTo>
                  <a:pt x="6791551" y="4989739"/>
                </a:lnTo>
                <a:lnTo>
                  <a:pt x="0" y="4989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974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16633088" cy="241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3"/>
              </a:lnSpc>
            </a:pPr>
            <a:r>
              <a:rPr lang="en-US" sz="7305" spc="-357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RISC-V PIPELINED PROCESSOR</a:t>
            </a:r>
          </a:p>
          <a:p>
            <a:pPr algn="l">
              <a:lnSpc>
                <a:spcPts val="964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03568"/>
            <a:ext cx="8888588" cy="692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Pipeline Stage Operations &amp; Decisions</a:t>
            </a:r>
          </a:p>
          <a:p>
            <a:pPr algn="l" marL="620961" indent="-310481" lvl="1">
              <a:lnSpc>
                <a:spcPts val="3738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 → ID: Inst</a:t>
            </a: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ruction is fetched using the PC; PC is updated based on sequential execution or a branch decision.</a:t>
            </a:r>
          </a:p>
          <a:p>
            <a:pPr algn="l" marL="620961" indent="-310481" lvl="1">
              <a:lnSpc>
                <a:spcPts val="3738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ID → EX: I</a:t>
            </a: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nstruction is decoded, c</a:t>
            </a: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ontrol signals </a:t>
            </a: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are generated, source registers are read, and immediates are prepared.</a:t>
            </a:r>
          </a:p>
          <a:p>
            <a:pPr algn="l" marL="620961" indent="-310481" lvl="1">
              <a:lnSpc>
                <a:spcPts val="3738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 → MEM: ALU performs arithmetic/logic operations, computes memory addresses, and evaluates branch conditions.</a:t>
            </a:r>
          </a:p>
          <a:p>
            <a:pPr algn="l" marL="620961" indent="-310481" lvl="1">
              <a:lnSpc>
                <a:spcPts val="3738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MEM → WB: Da</a:t>
            </a: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 memory is accessed for load/store instructions, and the correct result is selected.</a:t>
            </a:r>
          </a:p>
          <a:p>
            <a:pPr algn="l" marL="620961" indent="-310481" lvl="1">
              <a:lnSpc>
                <a:spcPts val="3738"/>
              </a:lnSpc>
              <a:buFont typeface="Arial"/>
              <a:buChar char="•"/>
            </a:pP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WB: Final result is written back to</a:t>
            </a:r>
            <a:r>
              <a:rPr lang="en-US" sz="2876" spc="-8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the register file if required by the instruction.</a:t>
            </a:r>
          </a:p>
          <a:p>
            <a:pPr algn="l">
              <a:lnSpc>
                <a:spcPts val="282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582441" y="1558177"/>
            <a:ext cx="6366751" cy="3585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4"/>
              </a:lnSpc>
            </a:pPr>
            <a:r>
              <a:rPr lang="en-US" b="true" sz="3248" spc="-9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Hazard Handling</a:t>
            </a:r>
          </a:p>
          <a:p>
            <a:pPr algn="l">
              <a:lnSpc>
                <a:spcPts val="3840"/>
              </a:lnSpc>
            </a:pPr>
            <a:r>
              <a:rPr lang="en-US" sz="2612" spc="-78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Hazards: </a:t>
            </a:r>
            <a:r>
              <a:rPr lang="en-US" sz="2612" spc="-7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Forward</a:t>
            </a:r>
            <a:r>
              <a:rPr lang="en-US" sz="2612" spc="-7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612" spc="-7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 unit  enables ALU-to-ALU and MEM-to-ALU bypassing, ensuring zero stalls for register dependencies.</a:t>
            </a:r>
          </a:p>
          <a:p>
            <a:pPr algn="l">
              <a:lnSpc>
                <a:spcPts val="3840"/>
              </a:lnSpc>
            </a:pPr>
            <a:r>
              <a:rPr lang="en-US" sz="2612" spc="-78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Control Hazards:</a:t>
            </a:r>
          </a:p>
          <a:p>
            <a:pPr algn="l" marL="564001" indent="-282000" lvl="1">
              <a:lnSpc>
                <a:spcPts val="3840"/>
              </a:lnSpc>
              <a:buFont typeface="Arial"/>
              <a:buChar char="•"/>
            </a:pPr>
            <a:r>
              <a:rPr lang="en-US" sz="2612" spc="-7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Simple prediction: branch not taken</a:t>
            </a:r>
          </a:p>
          <a:p>
            <a:pPr algn="l">
              <a:lnSpc>
                <a:spcPts val="3396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57800" y="2471879"/>
            <a:ext cx="9039281" cy="3178648"/>
          </a:xfrm>
          <a:custGeom>
            <a:avLst/>
            <a:gdLst/>
            <a:ahLst/>
            <a:cxnLst/>
            <a:rect r="r" b="b" t="t" l="l"/>
            <a:pathLst>
              <a:path h="3178648" w="9039281">
                <a:moveTo>
                  <a:pt x="0" y="0"/>
                </a:moveTo>
                <a:lnTo>
                  <a:pt x="9039281" y="0"/>
                </a:lnTo>
                <a:lnTo>
                  <a:pt x="9039281" y="3178648"/>
                </a:lnTo>
                <a:lnTo>
                  <a:pt x="0" y="3178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345" t="-45426" r="-3110" b="-13958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57800" y="5503052"/>
            <a:ext cx="9417356" cy="2632059"/>
          </a:xfrm>
          <a:custGeom>
            <a:avLst/>
            <a:gdLst/>
            <a:ahLst/>
            <a:cxnLst/>
            <a:rect r="r" b="b" t="t" l="l"/>
            <a:pathLst>
              <a:path h="2632059" w="9417356">
                <a:moveTo>
                  <a:pt x="0" y="0"/>
                </a:moveTo>
                <a:lnTo>
                  <a:pt x="9417356" y="0"/>
                </a:lnTo>
                <a:lnTo>
                  <a:pt x="9417356" y="2632058"/>
                </a:lnTo>
                <a:lnTo>
                  <a:pt x="0" y="2632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9457" t="-78686" r="-11845" b="-16607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42975"/>
            <a:ext cx="16633088" cy="241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3"/>
              </a:lnSpc>
            </a:pPr>
            <a:r>
              <a:rPr lang="en-US" sz="7305" spc="-357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IMPLEMENTATION, VERIFICATION &amp; RESULTS</a:t>
            </a:r>
          </a:p>
          <a:p>
            <a:pPr algn="l">
              <a:lnSpc>
                <a:spcPts val="964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74997"/>
            <a:ext cx="6273275" cy="469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1"/>
              </a:lnSpc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Verification</a:t>
            </a:r>
          </a:p>
          <a:p>
            <a:pPr algn="l" marL="636351" indent="-318176" lvl="1">
              <a:lnSpc>
                <a:spcPts val="3831"/>
              </a:lnSpc>
              <a:buFont typeface="Arial"/>
              <a:buChar char="•"/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Implemented and simulated in Vivado, verifying:</a:t>
            </a:r>
          </a:p>
          <a:p>
            <a:pPr algn="l" marL="1272702" indent="-424234" lvl="2">
              <a:lnSpc>
                <a:spcPts val="3831"/>
              </a:lnSpc>
              <a:buFont typeface="Arial"/>
              <a:buChar char="⚬"/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Correct instruction execution</a:t>
            </a:r>
          </a:p>
          <a:p>
            <a:pPr algn="l" marL="1272702" indent="-424234" lvl="2">
              <a:lnSpc>
                <a:spcPts val="3831"/>
              </a:lnSpc>
              <a:buFont typeface="Arial"/>
              <a:buChar char="⚬"/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Proper re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gister write-back</a:t>
            </a:r>
          </a:p>
          <a:p>
            <a:pPr algn="l" marL="1272702" indent="-424234" lvl="2">
              <a:lnSpc>
                <a:spcPts val="3831"/>
              </a:lnSpc>
              <a:buFont typeface="Arial"/>
              <a:buChar char="⚬"/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Correct m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emory load/store behavior</a:t>
            </a:r>
          </a:p>
          <a:p>
            <a:pPr algn="l" marL="1272702" indent="-424234" lvl="2">
              <a:lnSpc>
                <a:spcPts val="3831"/>
              </a:lnSpc>
              <a:buFont typeface="Arial"/>
              <a:buChar char="⚬"/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Accu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rate branch handling and pipeline flus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hing</a:t>
            </a:r>
          </a:p>
          <a:p>
            <a:pPr algn="l">
              <a:lnSpc>
                <a:spcPts val="308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10200" y="7435803"/>
            <a:ext cx="12003746" cy="230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1"/>
              </a:lnSpc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esults</a:t>
            </a:r>
          </a:p>
          <a:p>
            <a:pPr algn="l" marL="636351" indent="-318176" lvl="1">
              <a:lnSpc>
                <a:spcPts val="3831"/>
              </a:lnSpc>
              <a:buFont typeface="Arial"/>
              <a:buChar char="•"/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Expected outputs observed in 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simulation</a:t>
            </a:r>
          </a:p>
          <a:p>
            <a:pPr algn="l" marL="636351" indent="-318176" lvl="1">
              <a:lnSpc>
                <a:spcPts val="3831"/>
              </a:lnSpc>
              <a:buFont typeface="Arial"/>
              <a:buChar char="•"/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Processor executes RISC-V programs correctly under pipel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ining</a:t>
            </a:r>
          </a:p>
          <a:p>
            <a:pPr algn="l" marL="636351" indent="-318176" lvl="1">
              <a:lnSpc>
                <a:spcPts val="3831"/>
              </a:lnSpc>
              <a:buFont typeface="Arial"/>
              <a:buChar char="•"/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 functi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onal stalls for 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ALU-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to-ALU dependencies</a:t>
            </a:r>
          </a:p>
          <a:p>
            <a:pPr algn="l">
              <a:lnSpc>
                <a:spcPts val="3081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50454"/>
            <a:ext cx="8929517" cy="4121316"/>
          </a:xfrm>
          <a:custGeom>
            <a:avLst/>
            <a:gdLst/>
            <a:ahLst/>
            <a:cxnLst/>
            <a:rect r="r" b="b" t="t" l="l"/>
            <a:pathLst>
              <a:path h="4121316" w="8929517">
                <a:moveTo>
                  <a:pt x="0" y="0"/>
                </a:moveTo>
                <a:lnTo>
                  <a:pt x="8929517" y="0"/>
                </a:lnTo>
                <a:lnTo>
                  <a:pt x="8929517" y="4121316"/>
                </a:lnTo>
                <a:lnTo>
                  <a:pt x="0" y="4121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744" t="-29563" r="-3297" b="-788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436" y="50454"/>
            <a:ext cx="9121564" cy="5093046"/>
          </a:xfrm>
          <a:custGeom>
            <a:avLst/>
            <a:gdLst/>
            <a:ahLst/>
            <a:cxnLst/>
            <a:rect r="r" b="b" t="t" l="l"/>
            <a:pathLst>
              <a:path h="5093046" w="9121564">
                <a:moveTo>
                  <a:pt x="0" y="0"/>
                </a:moveTo>
                <a:lnTo>
                  <a:pt x="9121564" y="0"/>
                </a:lnTo>
                <a:lnTo>
                  <a:pt x="9121564" y="5093046"/>
                </a:lnTo>
                <a:lnTo>
                  <a:pt x="0" y="5093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396" t="-25604" r="-3084" b="-4714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30016" y="5507994"/>
            <a:ext cx="9487373" cy="4390157"/>
          </a:xfrm>
          <a:custGeom>
            <a:avLst/>
            <a:gdLst/>
            <a:ahLst/>
            <a:cxnLst/>
            <a:rect r="r" b="b" t="t" l="l"/>
            <a:pathLst>
              <a:path h="4390157" w="9487373">
                <a:moveTo>
                  <a:pt x="0" y="0"/>
                </a:moveTo>
                <a:lnTo>
                  <a:pt x="9487373" y="0"/>
                </a:lnTo>
                <a:lnTo>
                  <a:pt x="9487373" y="4390157"/>
                </a:lnTo>
                <a:lnTo>
                  <a:pt x="0" y="43901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7568" t="-28620" r="-2669" b="-7832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73191" y="5479489"/>
            <a:ext cx="11144106" cy="4350973"/>
          </a:xfrm>
          <a:custGeom>
            <a:avLst/>
            <a:gdLst/>
            <a:ahLst/>
            <a:cxnLst/>
            <a:rect r="r" b="b" t="t" l="l"/>
            <a:pathLst>
              <a:path h="4350973" w="11144106">
                <a:moveTo>
                  <a:pt x="0" y="0"/>
                </a:moveTo>
                <a:lnTo>
                  <a:pt x="11144106" y="0"/>
                </a:lnTo>
                <a:lnTo>
                  <a:pt x="11144106" y="4350974"/>
                </a:lnTo>
                <a:lnTo>
                  <a:pt x="0" y="4350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16633088" cy="1193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3"/>
              </a:lnSpc>
            </a:pPr>
            <a:r>
              <a:rPr lang="en-US" sz="7305" spc="-357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DISCUSSION OF VERIFICATION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6502" y="2031783"/>
            <a:ext cx="17354996" cy="387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9"/>
              </a:lnSpc>
            </a:pPr>
          </a:p>
          <a:p>
            <a:pPr algn="l" marL="636351" indent="-318175" lvl="1">
              <a:lnSpc>
                <a:spcPts val="4509"/>
              </a:lnSpc>
              <a:buAutoNum type="arabicPeriod" startAt="1"/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ALU c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orrectly compared x24 and x7 in the beq instruction.</a:t>
            </a:r>
          </a:p>
          <a:p>
            <a:pPr algn="l" marL="636351" indent="-318175" lvl="1">
              <a:lnSpc>
                <a:spcPts val="4509"/>
              </a:lnSpc>
              <a:buAutoNum type="arabicPeriod" startAt="1"/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Branch Logic detected the equal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ity and calculated the target PC.</a:t>
            </a:r>
          </a:p>
          <a:p>
            <a:pPr algn="l" marL="636351" indent="-318175" lvl="1">
              <a:lnSpc>
                <a:spcPts val="4509"/>
              </a:lnSpc>
              <a:buAutoNum type="arabicPeriod" startAt="1"/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IF/ID Flush successfully cleared the instructions that entered the pipe before the branch was resolved.</a:t>
            </a:r>
          </a:p>
          <a:p>
            <a:pPr algn="l" marL="636351" indent="-318175" lvl="1">
              <a:lnSpc>
                <a:spcPts val="4509"/>
              </a:lnSpc>
              <a:buAutoNum type="arabicPeriod" startAt="1"/>
            </a:pP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Write-Back stage successfully committed the value 23 to the register file on t</a:t>
            </a:r>
            <a:r>
              <a:rPr lang="en-US" sz="2947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 negative edge of the clock.</a:t>
            </a:r>
          </a:p>
          <a:p>
            <a:pPr algn="l">
              <a:lnSpc>
                <a:spcPts val="362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953438" y="478635"/>
            <a:ext cx="6483954" cy="211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sz="2770" spc="-8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m</a:t>
            </a:r>
            <a:r>
              <a:rPr lang="en-US" sz="2770" spc="-8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ost signif</a:t>
            </a:r>
            <a:r>
              <a:rPr lang="en-US" sz="2770" spc="-8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icant proof</a:t>
            </a:r>
            <a:r>
              <a:rPr lang="en-US" sz="2770" spc="-8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of correct operation is the value of x17. For the processor to reach the value 23, the following must</a:t>
            </a:r>
            <a:r>
              <a:rPr lang="en-US" sz="2770" spc="-8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have occurred correctly: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21917" y="8100856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1028700" y="808153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6996033" y="1028700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800000">
            <a:off x="1028700" y="1028700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35963" y="3447612"/>
            <a:ext cx="12616074" cy="316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0"/>
              </a:lnSpc>
            </a:pPr>
            <a:r>
              <a:rPr lang="en-US" sz="19386" spc="-94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15505" y="8719058"/>
            <a:ext cx="1425699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b="true" sz="3000" spc="-89">
                <a:solidFill>
                  <a:srgbClr val="38B6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GitHub Repository: https://github.com/JomanaAmin/Computer-Architecture-Project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DAG809hPnx0</dc:identifier>
  <dcterms:modified xsi:type="dcterms:W3CDTF">2011-08-01T06:04:30Z</dcterms:modified>
  <cp:revision>1</cp:revision>
  <dc:title>Blue and Black Modern Technology Presentation</dc:title>
</cp:coreProperties>
</file>