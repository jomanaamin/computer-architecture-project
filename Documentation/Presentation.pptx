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8288000" cy="10287000"/>
  <p:notesSz cx="6858000" cy="9144000"/>
  <p:embeddedFontLst>
    <p:embeddedFont>
      <p:font typeface="Norwester" charset="1" panose="00000506000000000000"/>
      <p:regular r:id="rId21"/>
    </p:embeddedFont>
    <p:embeddedFont>
      <p:font typeface="Archivo Narrow Bold" charset="1" panose="020B0806020202020B04"/>
      <p:regular r:id="rId22"/>
    </p:embeddedFont>
    <p:embeddedFont>
      <p:font typeface="Helvetica World" charset="1" panose="020B0500040000020004"/>
      <p:regular r:id="rId23"/>
    </p:embeddedFont>
    <p:embeddedFont>
      <p:font typeface="Garet" charset="1" panose="00000000000000000000"/>
      <p:regular r:id="rId24"/>
    </p:embeddedFont>
    <p:embeddedFont>
      <p:font typeface="Helvetica World Bold" charset="1" panose="020B0800040000020004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Relationship Id="rId3" Target="../media/image9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Relationship Id="rId3" Target="../media/image9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Relationship Id="rId3" Target="../media/image10.jpeg" Type="http://schemas.openxmlformats.org/officeDocument/2006/relationships/image"/><Relationship Id="rId4" Target="../media/image1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Relationship Id="rId3" Target="../media/image13.png" Type="http://schemas.openxmlformats.org/officeDocument/2006/relationships/image"/><Relationship Id="rId4" Target="../media/image14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Relationship Id="rId3" Target="../media/image15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Relationship Id="rId3" Target="../media/image16.png" Type="http://schemas.openxmlformats.org/officeDocument/2006/relationships/image"/><Relationship Id="rId4" Target="../media/image17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Relationship Id="rId3" Target="../media/image19.png" Type="http://schemas.openxmlformats.org/officeDocument/2006/relationships/image"/><Relationship Id="rId4" Target="../media/image20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Relationship Id="rId3" Target="../media/image2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4.png" Type="http://schemas.openxmlformats.org/officeDocument/2006/relationships/image"/><Relationship Id="rId8" Target="../media/image5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t="0" r="-1250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400000">
            <a:off x="-358858" y="4907320"/>
            <a:ext cx="3247475" cy="472360"/>
          </a:xfrm>
          <a:custGeom>
            <a:avLst/>
            <a:gdLst/>
            <a:ahLst/>
            <a:cxnLst/>
            <a:rect r="r" b="b" t="t" l="l"/>
            <a:pathLst>
              <a:path h="472360" w="3247475">
                <a:moveTo>
                  <a:pt x="0" y="0"/>
                </a:moveTo>
                <a:lnTo>
                  <a:pt x="3247476" y="0"/>
                </a:lnTo>
                <a:lnTo>
                  <a:pt x="3247476" y="472360"/>
                </a:lnTo>
                <a:lnTo>
                  <a:pt x="0" y="47236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-5400000">
            <a:off x="15399382" y="4907320"/>
            <a:ext cx="3247475" cy="472360"/>
          </a:xfrm>
          <a:custGeom>
            <a:avLst/>
            <a:gdLst/>
            <a:ahLst/>
            <a:cxnLst/>
            <a:rect r="r" b="b" t="t" l="l"/>
            <a:pathLst>
              <a:path h="472360" w="3247475">
                <a:moveTo>
                  <a:pt x="0" y="472360"/>
                </a:moveTo>
                <a:lnTo>
                  <a:pt x="3247476" y="472360"/>
                </a:lnTo>
                <a:lnTo>
                  <a:pt x="3247476" y="0"/>
                </a:lnTo>
                <a:lnTo>
                  <a:pt x="0" y="0"/>
                </a:lnTo>
                <a:lnTo>
                  <a:pt x="0" y="47236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28700" y="9053909"/>
            <a:ext cx="263267" cy="204391"/>
          </a:xfrm>
          <a:custGeom>
            <a:avLst/>
            <a:gdLst/>
            <a:ahLst/>
            <a:cxnLst/>
            <a:rect r="r" b="b" t="t" l="l"/>
            <a:pathLst>
              <a:path h="204391" w="263267">
                <a:moveTo>
                  <a:pt x="0" y="0"/>
                </a:moveTo>
                <a:lnTo>
                  <a:pt x="263267" y="0"/>
                </a:lnTo>
                <a:lnTo>
                  <a:pt x="263267" y="204391"/>
                </a:lnTo>
                <a:lnTo>
                  <a:pt x="0" y="20439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16996033" y="9053909"/>
            <a:ext cx="263267" cy="204391"/>
          </a:xfrm>
          <a:custGeom>
            <a:avLst/>
            <a:gdLst/>
            <a:ahLst/>
            <a:cxnLst/>
            <a:rect r="r" b="b" t="t" l="l"/>
            <a:pathLst>
              <a:path h="204391" w="263267">
                <a:moveTo>
                  <a:pt x="263267" y="0"/>
                </a:moveTo>
                <a:lnTo>
                  <a:pt x="0" y="0"/>
                </a:lnTo>
                <a:lnTo>
                  <a:pt x="0" y="204391"/>
                </a:lnTo>
                <a:lnTo>
                  <a:pt x="263267" y="204391"/>
                </a:lnTo>
                <a:lnTo>
                  <a:pt x="263267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28700" y="1028700"/>
            <a:ext cx="1337383" cy="1157444"/>
          </a:xfrm>
          <a:custGeom>
            <a:avLst/>
            <a:gdLst/>
            <a:ahLst/>
            <a:cxnLst/>
            <a:rect r="r" b="b" t="t" l="l"/>
            <a:pathLst>
              <a:path h="1157444" w="1337383">
                <a:moveTo>
                  <a:pt x="0" y="0"/>
                </a:moveTo>
                <a:lnTo>
                  <a:pt x="1337383" y="0"/>
                </a:lnTo>
                <a:lnTo>
                  <a:pt x="1337383" y="1157444"/>
                </a:lnTo>
                <a:lnTo>
                  <a:pt x="0" y="115744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835963" y="2628060"/>
            <a:ext cx="12616074" cy="4935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54"/>
              </a:lnSpc>
            </a:pPr>
            <a:r>
              <a:rPr lang="en-US" sz="7389" spc="-362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DESIGN AND SIMULATION OF A SINGLE-CYCLE / PIPELINED RISC-V PROCESSOR</a:t>
            </a:r>
          </a:p>
          <a:p>
            <a:pPr algn="ctr">
              <a:lnSpc>
                <a:spcPts val="9754"/>
              </a:lnSpc>
            </a:pPr>
          </a:p>
        </p:txBody>
      </p:sp>
      <p:sp>
        <p:nvSpPr>
          <p:cNvPr name="Freeform 9" id="9"/>
          <p:cNvSpPr/>
          <p:nvPr/>
        </p:nvSpPr>
        <p:spPr>
          <a:xfrm flipH="true" flipV="false" rot="0">
            <a:off x="15921917" y="1048018"/>
            <a:ext cx="1337383" cy="1157444"/>
          </a:xfrm>
          <a:custGeom>
            <a:avLst/>
            <a:gdLst/>
            <a:ahLst/>
            <a:cxnLst/>
            <a:rect r="r" b="b" t="t" l="l"/>
            <a:pathLst>
              <a:path h="1157444" w="1337383">
                <a:moveTo>
                  <a:pt x="1337383" y="0"/>
                </a:moveTo>
                <a:lnTo>
                  <a:pt x="0" y="0"/>
                </a:lnTo>
                <a:lnTo>
                  <a:pt x="0" y="1157444"/>
                </a:lnTo>
                <a:lnTo>
                  <a:pt x="1337383" y="1157444"/>
                </a:lnTo>
                <a:lnTo>
                  <a:pt x="133738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3248114" y="6789511"/>
            <a:ext cx="11791771" cy="24687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7"/>
              </a:lnSpc>
            </a:pPr>
            <a:r>
              <a:rPr lang="en-US" b="true" sz="3006" spc="-129">
                <a:solidFill>
                  <a:srgbClr val="C2DCFF"/>
                </a:solidFill>
                <a:latin typeface="Archivo Narrow Bold"/>
                <a:ea typeface="Archivo Narrow Bold"/>
                <a:cs typeface="Archivo Narrow Bold"/>
                <a:sym typeface="Archivo Narrow Bold"/>
              </a:rPr>
              <a:t>RANIA OSSAMA HASSAN 231001334</a:t>
            </a:r>
          </a:p>
          <a:p>
            <a:pPr algn="ctr">
              <a:lnSpc>
                <a:spcPts val="3967"/>
              </a:lnSpc>
            </a:pPr>
            <a:r>
              <a:rPr lang="en-US" b="true" sz="3006" spc="-129">
                <a:solidFill>
                  <a:srgbClr val="C2DCFF"/>
                </a:solidFill>
                <a:latin typeface="Archivo Narrow Bold"/>
                <a:ea typeface="Archivo Narrow Bold"/>
                <a:cs typeface="Archivo Narrow Bold"/>
                <a:sym typeface="Archivo Narrow Bold"/>
              </a:rPr>
              <a:t>ADHAM AHMED MOHAMED 221001783</a:t>
            </a:r>
          </a:p>
          <a:p>
            <a:pPr algn="ctr">
              <a:lnSpc>
                <a:spcPts val="3967"/>
              </a:lnSpc>
            </a:pPr>
            <a:r>
              <a:rPr lang="en-US" b="true" sz="3006" spc="-129">
                <a:solidFill>
                  <a:srgbClr val="C2DCFF"/>
                </a:solidFill>
                <a:latin typeface="Archivo Narrow Bold"/>
                <a:ea typeface="Archivo Narrow Bold"/>
                <a:cs typeface="Archivo Narrow Bold"/>
                <a:sym typeface="Archivo Narrow Bold"/>
              </a:rPr>
              <a:t>YOMNA MEDHAT SAAD 231000762</a:t>
            </a:r>
          </a:p>
          <a:p>
            <a:pPr algn="ctr">
              <a:lnSpc>
                <a:spcPts val="3967"/>
              </a:lnSpc>
            </a:pPr>
            <a:r>
              <a:rPr lang="en-US" b="true" sz="3006" spc="-129">
                <a:solidFill>
                  <a:srgbClr val="C2DCFF"/>
                </a:solidFill>
                <a:latin typeface="Archivo Narrow Bold"/>
                <a:ea typeface="Archivo Narrow Bold"/>
                <a:cs typeface="Archivo Narrow Bold"/>
                <a:sym typeface="Archivo Narrow Bold"/>
              </a:rPr>
              <a:t>MOHAMMED HESHAM 231000359</a:t>
            </a:r>
          </a:p>
          <a:p>
            <a:pPr algn="ctr">
              <a:lnSpc>
                <a:spcPts val="3967"/>
              </a:lnSpc>
              <a:spcBef>
                <a:spcPct val="0"/>
              </a:spcBef>
            </a:pPr>
            <a:r>
              <a:rPr lang="en-US" b="true" sz="3006" spc="-129">
                <a:solidFill>
                  <a:srgbClr val="C2DCFF"/>
                </a:solidFill>
                <a:latin typeface="Archivo Narrow Bold"/>
                <a:ea typeface="Archivo Narrow Bold"/>
                <a:cs typeface="Archivo Narrow Bold"/>
                <a:sym typeface="Archivo Narrow Bold"/>
              </a:rPr>
              <a:t>JOMANA AMIN 231001427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t="0" r="-1250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14011825" y="1028700"/>
            <a:ext cx="3247475" cy="472360"/>
          </a:xfrm>
          <a:custGeom>
            <a:avLst/>
            <a:gdLst/>
            <a:ahLst/>
            <a:cxnLst/>
            <a:rect r="r" b="b" t="t" l="l"/>
            <a:pathLst>
              <a:path h="472360" w="3247475">
                <a:moveTo>
                  <a:pt x="0" y="472360"/>
                </a:moveTo>
                <a:lnTo>
                  <a:pt x="3247475" y="472360"/>
                </a:lnTo>
                <a:lnTo>
                  <a:pt x="3247475" y="0"/>
                </a:lnTo>
                <a:lnTo>
                  <a:pt x="0" y="0"/>
                </a:lnTo>
                <a:lnTo>
                  <a:pt x="0" y="47236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8317705" y="1028700"/>
            <a:ext cx="3247475" cy="472360"/>
          </a:xfrm>
          <a:custGeom>
            <a:avLst/>
            <a:gdLst/>
            <a:ahLst/>
            <a:cxnLst/>
            <a:rect r="r" b="b" t="t" l="l"/>
            <a:pathLst>
              <a:path h="472360" w="3247475">
                <a:moveTo>
                  <a:pt x="0" y="472360"/>
                </a:moveTo>
                <a:lnTo>
                  <a:pt x="3247475" y="472360"/>
                </a:lnTo>
                <a:lnTo>
                  <a:pt x="3247475" y="0"/>
                </a:lnTo>
                <a:lnTo>
                  <a:pt x="0" y="0"/>
                </a:lnTo>
                <a:lnTo>
                  <a:pt x="0" y="47236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942975"/>
            <a:ext cx="6638493" cy="11935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9"/>
              </a:lnSpc>
            </a:pPr>
            <a:r>
              <a:rPr lang="en-US" sz="7310" spc="-358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AGENDA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2970245"/>
            <a:ext cx="13232860" cy="4308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0905" indent="-355453" lvl="1">
              <a:lnSpc>
                <a:spcPts val="4280"/>
              </a:lnSpc>
              <a:buFont typeface="Arial"/>
              <a:buChar char="•"/>
            </a:pPr>
            <a:r>
              <a:rPr lang="en-US" sz="3292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Overview of the RISC-V processor project</a:t>
            </a:r>
          </a:p>
          <a:p>
            <a:pPr algn="l" marL="710905" indent="-355453" lvl="1">
              <a:lnSpc>
                <a:spcPts val="4280"/>
              </a:lnSpc>
              <a:buFont typeface="Arial"/>
              <a:buChar char="•"/>
            </a:pPr>
            <a:r>
              <a:rPr lang="en-US" sz="3292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ALU &amp; Arithmetic Logic Design</a:t>
            </a:r>
          </a:p>
          <a:p>
            <a:pPr algn="l" marL="710905" indent="-355453" lvl="1">
              <a:lnSpc>
                <a:spcPts val="4280"/>
              </a:lnSpc>
              <a:buFont typeface="Arial"/>
              <a:buChar char="•"/>
            </a:pPr>
            <a:r>
              <a:rPr lang="en-US" sz="3292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Control Unit (Main + ALU Control)</a:t>
            </a:r>
          </a:p>
          <a:p>
            <a:pPr algn="l" marL="710905" indent="-355453" lvl="1">
              <a:lnSpc>
                <a:spcPts val="4280"/>
              </a:lnSpc>
              <a:buFont typeface="Arial"/>
              <a:buChar char="•"/>
            </a:pPr>
            <a:r>
              <a:rPr lang="en-US" sz="3292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Register File &amp; Immediate Generator</a:t>
            </a:r>
          </a:p>
          <a:p>
            <a:pPr algn="l" marL="710905" indent="-355453" lvl="1">
              <a:lnSpc>
                <a:spcPts val="4280"/>
              </a:lnSpc>
              <a:buFont typeface="Arial"/>
              <a:buChar char="•"/>
            </a:pPr>
            <a:r>
              <a:rPr lang="en-US" sz="3292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Program Counter, Branch Logic &amp; PC Update</a:t>
            </a:r>
          </a:p>
          <a:p>
            <a:pPr algn="l" marL="710905" indent="-355453" lvl="1">
              <a:lnSpc>
                <a:spcPts val="4280"/>
              </a:lnSpc>
              <a:buFont typeface="Arial"/>
              <a:buChar char="•"/>
            </a:pPr>
            <a:r>
              <a:rPr lang="en-US" sz="3292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Instruction Memory, Data Memory &amp; Top-Level Integration</a:t>
            </a:r>
          </a:p>
          <a:p>
            <a:pPr algn="l" marL="710905" indent="-355453" lvl="1">
              <a:lnSpc>
                <a:spcPts val="4280"/>
              </a:lnSpc>
              <a:buFont typeface="Arial"/>
              <a:buChar char="•"/>
            </a:pPr>
            <a:r>
              <a:rPr lang="en-US" sz="3292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Simulation Results – Testbenches, PC updates, instruction execution, waveform verification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t="0" r="-1250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14011825" y="1028700"/>
            <a:ext cx="3247475" cy="472360"/>
          </a:xfrm>
          <a:custGeom>
            <a:avLst/>
            <a:gdLst/>
            <a:ahLst/>
            <a:cxnLst/>
            <a:rect r="r" b="b" t="t" l="l"/>
            <a:pathLst>
              <a:path h="472360" w="3247475">
                <a:moveTo>
                  <a:pt x="0" y="472360"/>
                </a:moveTo>
                <a:lnTo>
                  <a:pt x="3247475" y="472360"/>
                </a:lnTo>
                <a:lnTo>
                  <a:pt x="3247475" y="0"/>
                </a:lnTo>
                <a:lnTo>
                  <a:pt x="0" y="0"/>
                </a:lnTo>
                <a:lnTo>
                  <a:pt x="0" y="47236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8317705" y="1028700"/>
            <a:ext cx="3247475" cy="472360"/>
          </a:xfrm>
          <a:custGeom>
            <a:avLst/>
            <a:gdLst/>
            <a:ahLst/>
            <a:cxnLst/>
            <a:rect r="r" b="b" t="t" l="l"/>
            <a:pathLst>
              <a:path h="472360" w="3247475">
                <a:moveTo>
                  <a:pt x="0" y="472360"/>
                </a:moveTo>
                <a:lnTo>
                  <a:pt x="3247475" y="472360"/>
                </a:lnTo>
                <a:lnTo>
                  <a:pt x="3247475" y="0"/>
                </a:lnTo>
                <a:lnTo>
                  <a:pt x="0" y="0"/>
                </a:lnTo>
                <a:lnTo>
                  <a:pt x="0" y="47236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942975"/>
            <a:ext cx="7864941" cy="11935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9"/>
              </a:lnSpc>
            </a:pPr>
            <a:r>
              <a:rPr lang="en-US" sz="7310" spc="-358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OVERVIEW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2954592"/>
            <a:ext cx="12627306" cy="4339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0312" indent="-355156" lvl="1">
              <a:lnSpc>
                <a:spcPts val="4277"/>
              </a:lnSpc>
              <a:buFont typeface="Arial"/>
              <a:buChar char="•"/>
            </a:pPr>
            <a:r>
              <a:rPr lang="en-US" sz="3290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Design and implement a RISC-V processor in Verilog HDL.</a:t>
            </a:r>
          </a:p>
          <a:p>
            <a:pPr algn="l" marL="710312" indent="-355156" lvl="1">
              <a:lnSpc>
                <a:spcPts val="4277"/>
              </a:lnSpc>
              <a:buFont typeface="Arial"/>
              <a:buChar char="•"/>
            </a:pPr>
            <a:r>
              <a:rPr lang="en-US" sz="3290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Supports R-Type, I-Type, Load/Store, and Branch instructions.</a:t>
            </a:r>
          </a:p>
          <a:p>
            <a:pPr algn="l" marL="710312" indent="-355156" lvl="1">
              <a:lnSpc>
                <a:spcPts val="4277"/>
              </a:lnSpc>
              <a:buFont typeface="Arial"/>
              <a:buChar char="•"/>
            </a:pPr>
            <a:r>
              <a:rPr lang="en-US" sz="3290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Simulate both single-cycle and pipelined versions.</a:t>
            </a:r>
          </a:p>
          <a:p>
            <a:pPr algn="l" marL="710312" indent="-355156" lvl="1">
              <a:lnSpc>
                <a:spcPts val="4277"/>
              </a:lnSpc>
              <a:buFont typeface="Arial"/>
              <a:buChar char="•"/>
            </a:pPr>
            <a:r>
              <a:rPr lang="en-US" sz="3290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Understand the internal CPU structure: instruction fetch, decode, execute, memory, and write-back.</a:t>
            </a:r>
          </a:p>
          <a:p>
            <a:pPr algn="l" marL="710312" indent="-355156" lvl="1">
              <a:lnSpc>
                <a:spcPts val="4277"/>
              </a:lnSpc>
              <a:buFont typeface="Arial"/>
              <a:buChar char="•"/>
            </a:pPr>
            <a:r>
              <a:rPr lang="en-US" sz="3290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Verify module functionality using simulation waveforms.</a:t>
            </a:r>
          </a:p>
          <a:p>
            <a:pPr algn="l" marL="710312" indent="-355156" lvl="1">
              <a:lnSpc>
                <a:spcPts val="4277"/>
              </a:lnSpc>
              <a:buFont typeface="Arial"/>
              <a:buChar char="•"/>
            </a:pPr>
            <a:r>
              <a:rPr lang="en-US" sz="3290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Gain hands-on experience in CPU design, control signals, and datapath integration.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t="0" r="-1250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61928" y="1597181"/>
            <a:ext cx="10791250" cy="7546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96"/>
              </a:lnSpc>
              <a:spcBef>
                <a:spcPct val="0"/>
              </a:spcBef>
            </a:pPr>
          </a:p>
          <a:p>
            <a:pPr algn="ctr" marL="708846" indent="-354423" lvl="1">
              <a:lnSpc>
                <a:spcPts val="4596"/>
              </a:lnSpc>
              <a:spcBef>
                <a:spcPct val="0"/>
              </a:spcBef>
              <a:buFont typeface="Arial"/>
              <a:buChar char="•"/>
            </a:pPr>
            <a:r>
              <a:rPr lang="en-US" sz="3283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Located in the Execute stage of the 5-stage pipeline</a:t>
            </a:r>
          </a:p>
          <a:p>
            <a:pPr algn="ctr">
              <a:lnSpc>
                <a:spcPts val="4596"/>
              </a:lnSpc>
              <a:spcBef>
                <a:spcPct val="0"/>
              </a:spcBef>
            </a:pPr>
          </a:p>
          <a:p>
            <a:pPr algn="ctr" marL="708846" indent="-354423" lvl="1">
              <a:lnSpc>
                <a:spcPts val="4596"/>
              </a:lnSpc>
              <a:spcBef>
                <a:spcPct val="0"/>
              </a:spcBef>
              <a:buFont typeface="Arial"/>
              <a:buChar char="•"/>
            </a:pPr>
            <a:r>
              <a:rPr lang="en-US" sz="3283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Performs all RISC-V operations</a:t>
            </a:r>
          </a:p>
          <a:p>
            <a:pPr algn="ctr">
              <a:lnSpc>
                <a:spcPts val="4596"/>
              </a:lnSpc>
              <a:spcBef>
                <a:spcPct val="0"/>
              </a:spcBef>
            </a:pPr>
          </a:p>
          <a:p>
            <a:pPr algn="ctr" marL="708846" indent="-354423" lvl="1">
              <a:lnSpc>
                <a:spcPts val="4596"/>
              </a:lnSpc>
              <a:spcBef>
                <a:spcPct val="0"/>
              </a:spcBef>
              <a:buFont typeface="Arial"/>
              <a:buChar char="•"/>
            </a:pPr>
            <a:r>
              <a:rPr lang="en-US" sz="3283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Uses signed comparison for slt  (-5 &lt; 10  result = 1)</a:t>
            </a:r>
          </a:p>
          <a:p>
            <a:pPr algn="ctr">
              <a:lnSpc>
                <a:spcPts val="4596"/>
              </a:lnSpc>
              <a:spcBef>
                <a:spcPct val="0"/>
              </a:spcBef>
            </a:pPr>
          </a:p>
          <a:p>
            <a:pPr algn="ctr" marL="708846" indent="-354423" lvl="1">
              <a:lnSpc>
                <a:spcPts val="4596"/>
              </a:lnSpc>
              <a:spcBef>
                <a:spcPct val="0"/>
              </a:spcBef>
              <a:buFont typeface="Arial"/>
              <a:buChar char="•"/>
            </a:pPr>
            <a:r>
              <a:rPr lang="en-US" sz="3283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Outputs a Zero flag using beq to detect equality</a:t>
            </a:r>
          </a:p>
          <a:p>
            <a:pPr algn="ctr">
              <a:lnSpc>
                <a:spcPts val="4596"/>
              </a:lnSpc>
              <a:spcBef>
                <a:spcPct val="0"/>
              </a:spcBef>
            </a:pPr>
          </a:p>
          <a:p>
            <a:pPr algn="ctr" marL="708846" indent="-354423" lvl="1">
              <a:lnSpc>
                <a:spcPts val="4596"/>
              </a:lnSpc>
              <a:spcBef>
                <a:spcPct val="0"/>
              </a:spcBef>
              <a:buFont typeface="Arial"/>
              <a:buChar char="•"/>
            </a:pPr>
            <a:r>
              <a:rPr lang="en-US" sz="3283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Purely combinational  (no clock or reset needed)</a:t>
            </a:r>
          </a:p>
          <a:p>
            <a:pPr algn="ctr">
              <a:lnSpc>
                <a:spcPts val="4596"/>
              </a:lnSpc>
              <a:spcBef>
                <a:spcPct val="0"/>
              </a:spcBef>
            </a:pPr>
          </a:p>
          <a:p>
            <a:pPr algn="ctr" marL="708846" indent="-354423" lvl="1">
              <a:lnSpc>
                <a:spcPts val="4596"/>
              </a:lnSpc>
              <a:spcBef>
                <a:spcPct val="0"/>
              </a:spcBef>
              <a:buFont typeface="Arial"/>
              <a:buChar char="•"/>
            </a:pPr>
            <a:r>
              <a:rPr lang="en-US" sz="3283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Controlled by 4-bit ALUCtl from the ALU Control Unit</a:t>
            </a:r>
          </a:p>
          <a:p>
            <a:pPr algn="ctr" marL="708846" indent="-354423" lvl="1">
              <a:lnSpc>
                <a:spcPts val="4596"/>
              </a:lnSpc>
              <a:spcBef>
                <a:spcPct val="0"/>
              </a:spcBef>
              <a:buFont typeface="Arial"/>
              <a:buChar char="•"/>
            </a:pPr>
            <a:r>
              <a:rPr lang="en-US" sz="3283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Verified with full testbench (all operations tested)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29016" y="398602"/>
            <a:ext cx="11970410" cy="976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1"/>
              </a:lnSpc>
            </a:pPr>
            <a:r>
              <a:rPr lang="en-US" sz="5910" spc="-289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ALU &amp; ARITHMETIC LOGIC DESIGN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1146434" y="1654331"/>
            <a:ext cx="7141566" cy="7912458"/>
          </a:xfrm>
          <a:custGeom>
            <a:avLst/>
            <a:gdLst/>
            <a:ahLst/>
            <a:cxnLst/>
            <a:rect r="r" b="b" t="t" l="l"/>
            <a:pathLst>
              <a:path h="7912458" w="7141566">
                <a:moveTo>
                  <a:pt x="0" y="0"/>
                </a:moveTo>
                <a:lnTo>
                  <a:pt x="7141566" y="0"/>
                </a:lnTo>
                <a:lnTo>
                  <a:pt x="7141566" y="7912457"/>
                </a:lnTo>
                <a:lnTo>
                  <a:pt x="0" y="791245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5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t="0" r="-1250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860753" y="2143189"/>
            <a:ext cx="7427247" cy="8143811"/>
          </a:xfrm>
          <a:custGeom>
            <a:avLst/>
            <a:gdLst/>
            <a:ahLst/>
            <a:cxnLst/>
            <a:rect r="r" b="b" t="t" l="l"/>
            <a:pathLst>
              <a:path h="8143811" w="7427247">
                <a:moveTo>
                  <a:pt x="0" y="0"/>
                </a:moveTo>
                <a:lnTo>
                  <a:pt x="7427247" y="0"/>
                </a:lnTo>
                <a:lnTo>
                  <a:pt x="7427247" y="8143811"/>
                </a:lnTo>
                <a:lnTo>
                  <a:pt x="0" y="81438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729016" y="398602"/>
            <a:ext cx="11970410" cy="976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1"/>
              </a:lnSpc>
            </a:pPr>
            <a:r>
              <a:rPr lang="en-US" sz="5910" spc="-289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ALU &amp; ARITHMETIC LOGIC DESIGN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61722" y="2066989"/>
            <a:ext cx="6750485" cy="723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47"/>
              </a:lnSpc>
              <a:spcBef>
                <a:spcPct val="0"/>
              </a:spcBef>
            </a:pPr>
            <a:r>
              <a:rPr lang="en-US" sz="4319">
                <a:solidFill>
                  <a:srgbClr val="38B6FF"/>
                </a:solidFill>
                <a:latin typeface="Garet"/>
                <a:ea typeface="Garet"/>
                <a:cs typeface="Garet"/>
                <a:sym typeface="Garet"/>
              </a:rPr>
              <a:t>ALU Control Codes (ALUCtl)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t="0" r="-1250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257524" y="2063888"/>
            <a:ext cx="9685042" cy="3983698"/>
          </a:xfrm>
          <a:custGeom>
            <a:avLst/>
            <a:gdLst/>
            <a:ahLst/>
            <a:cxnLst/>
            <a:rect r="r" b="b" t="t" l="l"/>
            <a:pathLst>
              <a:path h="3983698" w="9685042">
                <a:moveTo>
                  <a:pt x="0" y="0"/>
                </a:moveTo>
                <a:lnTo>
                  <a:pt x="9685042" y="0"/>
                </a:lnTo>
                <a:lnTo>
                  <a:pt x="9685042" y="3983698"/>
                </a:lnTo>
                <a:lnTo>
                  <a:pt x="0" y="39836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257524" y="6401126"/>
            <a:ext cx="9596525" cy="3305041"/>
          </a:xfrm>
          <a:custGeom>
            <a:avLst/>
            <a:gdLst/>
            <a:ahLst/>
            <a:cxnLst/>
            <a:rect r="r" b="b" t="t" l="l"/>
            <a:pathLst>
              <a:path h="3305041" w="9596525">
                <a:moveTo>
                  <a:pt x="0" y="0"/>
                </a:moveTo>
                <a:lnTo>
                  <a:pt x="9596525" y="0"/>
                </a:lnTo>
                <a:lnTo>
                  <a:pt x="9596525" y="3305041"/>
                </a:lnTo>
                <a:lnTo>
                  <a:pt x="0" y="33050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1485" r="0" b="-1485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30601" y="1318183"/>
            <a:ext cx="7432871" cy="73507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64"/>
              </a:lnSpc>
              <a:spcBef>
                <a:spcPct val="0"/>
              </a:spcBef>
            </a:pPr>
          </a:p>
          <a:p>
            <a:pPr algn="ctr" marL="642164" indent="-321082" lvl="1">
              <a:lnSpc>
                <a:spcPts val="4164"/>
              </a:lnSpc>
              <a:spcBef>
                <a:spcPct val="0"/>
              </a:spcBef>
              <a:buFont typeface="Arial"/>
              <a:buChar char="•"/>
            </a:pPr>
            <a:r>
              <a:rPr lang="en-US" sz="297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Located in the Decode stage of the 5-stage pipeline</a:t>
            </a:r>
          </a:p>
          <a:p>
            <a:pPr algn="ctr">
              <a:lnSpc>
                <a:spcPts val="4164"/>
              </a:lnSpc>
              <a:spcBef>
                <a:spcPct val="0"/>
              </a:spcBef>
            </a:pPr>
          </a:p>
          <a:p>
            <a:pPr algn="ctr" marL="642164" indent="-321082" lvl="1">
              <a:lnSpc>
                <a:spcPts val="4164"/>
              </a:lnSpc>
              <a:spcBef>
                <a:spcPct val="0"/>
              </a:spcBef>
              <a:buFont typeface="Arial"/>
              <a:buChar char="•"/>
            </a:pPr>
            <a:r>
              <a:rPr lang="en-US" sz="297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Generates control signals based on opcode and finds what type of instruction the ALU will do (R-type, I-type ... etc)</a:t>
            </a:r>
          </a:p>
          <a:p>
            <a:pPr algn="ctr">
              <a:lnSpc>
                <a:spcPts val="4164"/>
              </a:lnSpc>
              <a:spcBef>
                <a:spcPct val="0"/>
              </a:spcBef>
            </a:pPr>
          </a:p>
          <a:p>
            <a:pPr algn="ctr">
              <a:lnSpc>
                <a:spcPts val="4164"/>
              </a:lnSpc>
              <a:spcBef>
                <a:spcPct val="0"/>
              </a:spcBef>
            </a:pPr>
          </a:p>
          <a:p>
            <a:pPr algn="ctr" marL="642164" indent="-321082" lvl="1">
              <a:lnSpc>
                <a:spcPts val="4164"/>
              </a:lnSpc>
              <a:spcBef>
                <a:spcPct val="0"/>
              </a:spcBef>
              <a:buFont typeface="Arial"/>
              <a:buChar char="•"/>
            </a:pPr>
            <a:r>
              <a:rPr lang="en-US" sz="297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Purely combinational  (no clock or reset needed)</a:t>
            </a:r>
          </a:p>
          <a:p>
            <a:pPr algn="ctr">
              <a:lnSpc>
                <a:spcPts val="4164"/>
              </a:lnSpc>
              <a:spcBef>
                <a:spcPct val="0"/>
              </a:spcBef>
            </a:pPr>
          </a:p>
          <a:p>
            <a:pPr algn="ctr" marL="642164" indent="-321082" lvl="1">
              <a:lnSpc>
                <a:spcPts val="4164"/>
              </a:lnSpc>
              <a:spcBef>
                <a:spcPct val="0"/>
              </a:spcBef>
              <a:buFont typeface="Arial"/>
              <a:buChar char="•"/>
            </a:pPr>
            <a:r>
              <a:rPr lang="en-US" sz="297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Verified with full testbench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29016" y="398602"/>
            <a:ext cx="11970410" cy="976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01"/>
              </a:lnSpc>
            </a:pPr>
            <a:r>
              <a:rPr lang="en-US" sz="5910" spc="-289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CONTROL UNIT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t="0" r="-1250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14011825" y="1028700"/>
            <a:ext cx="3247475" cy="472360"/>
          </a:xfrm>
          <a:custGeom>
            <a:avLst/>
            <a:gdLst/>
            <a:ahLst/>
            <a:cxnLst/>
            <a:rect r="r" b="b" t="t" l="l"/>
            <a:pathLst>
              <a:path h="472360" w="3247475">
                <a:moveTo>
                  <a:pt x="0" y="472360"/>
                </a:moveTo>
                <a:lnTo>
                  <a:pt x="3247475" y="472360"/>
                </a:lnTo>
                <a:lnTo>
                  <a:pt x="3247475" y="0"/>
                </a:lnTo>
                <a:lnTo>
                  <a:pt x="0" y="0"/>
                </a:lnTo>
                <a:lnTo>
                  <a:pt x="0" y="47236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4" id="4"/>
          <p:cNvGraphicFramePr>
            <a:graphicFrameLocks noGrp="true"/>
          </p:cNvGraphicFramePr>
          <p:nvPr/>
        </p:nvGraphicFramePr>
        <p:xfrm>
          <a:off x="10354225" y="4473666"/>
          <a:ext cx="7315200" cy="5133975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</a:tblGrid>
              <a:tr h="102679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true">
                          <a:solidFill>
                            <a:srgbClr val="FFFFFF"/>
                          </a:solidFill>
                          <a:latin typeface="Helvetica World Bold"/>
                          <a:ea typeface="Helvetica World Bold"/>
                          <a:cs typeface="Helvetica World Bold"/>
                          <a:sym typeface="Helvetica World Bold"/>
                        </a:rPr>
                        <a:t>TYPE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true">
                          <a:solidFill>
                            <a:srgbClr val="FFFFFF"/>
                          </a:solidFill>
                          <a:latin typeface="Helvetica World Bold"/>
                          <a:ea typeface="Helvetica World Bold"/>
                          <a:cs typeface="Helvetica World Bold"/>
                          <a:sym typeface="Helvetica World Bold"/>
                        </a:rPr>
                        <a:t>INSTRUCTION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679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true">
                          <a:solidFill>
                            <a:srgbClr val="FFFFFF"/>
                          </a:solidFill>
                          <a:latin typeface="Helvetica World Bold"/>
                          <a:ea typeface="Helvetica World Bold"/>
                          <a:cs typeface="Helvetica World Bold"/>
                          <a:sym typeface="Helvetica World Bold"/>
                        </a:rPr>
                        <a:t>I - type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 b="true">
                          <a:solidFill>
                            <a:srgbClr val="FFFFFF"/>
                          </a:solidFill>
                          <a:latin typeface="Helvetica World Bold"/>
                          <a:ea typeface="Helvetica World Bold"/>
                          <a:cs typeface="Helvetica World Bold"/>
                          <a:sym typeface="Helvetica World Bold"/>
                        </a:rPr>
                        <a:t>addi, andi, ld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679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S - type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sd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679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B - type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beq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679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Shift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520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Helvetica World"/>
                          <a:ea typeface="Helvetica World"/>
                          <a:cs typeface="Helvetica World"/>
                          <a:sym typeface="Helvetica World"/>
                        </a:rPr>
                        <a:t>slli, srli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5" id="5"/>
          <p:cNvSpPr txBox="true"/>
          <p:nvPr/>
        </p:nvSpPr>
        <p:spPr>
          <a:xfrm rot="0">
            <a:off x="1028700" y="942975"/>
            <a:ext cx="7864941" cy="10900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712"/>
              </a:lnSpc>
            </a:pPr>
            <a:r>
              <a:rPr lang="en-US" sz="6600" spc="-323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IMMEDIATE GENERATOR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3317596"/>
            <a:ext cx="12627306" cy="27109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0312" indent="-355156" lvl="1">
              <a:lnSpc>
                <a:spcPts val="4277"/>
              </a:lnSpc>
              <a:buFont typeface="Arial"/>
              <a:buChar char="•"/>
            </a:pPr>
            <a:r>
              <a:rPr lang="en-US" sz="3290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Extracts and sign-extends immediates from instructions</a:t>
            </a:r>
          </a:p>
          <a:p>
            <a:pPr algn="l" marL="710312" indent="-355156" lvl="1">
              <a:lnSpc>
                <a:spcPts val="4277"/>
              </a:lnSpc>
              <a:buFont typeface="Arial"/>
              <a:buChar char="•"/>
            </a:pPr>
            <a:r>
              <a:rPr lang="en-US" sz="3290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I-type, S-type and B-type instructions</a:t>
            </a:r>
          </a:p>
          <a:p>
            <a:pPr algn="l" marL="710312" indent="-355156" lvl="1">
              <a:lnSpc>
                <a:spcPts val="4277"/>
              </a:lnSpc>
              <a:buFont typeface="Arial"/>
              <a:buChar char="•"/>
            </a:pPr>
            <a:r>
              <a:rPr lang="en-US" sz="3290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Handles shift-immediates</a:t>
            </a:r>
          </a:p>
          <a:p>
            <a:pPr algn="l" marL="710312" indent="-355156" lvl="1">
              <a:lnSpc>
                <a:spcPts val="4277"/>
              </a:lnSpc>
              <a:buFont typeface="Arial"/>
              <a:buChar char="•"/>
            </a:pPr>
            <a:r>
              <a:rPr lang="en-US" sz="3290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Combinational logic</a:t>
            </a:r>
          </a:p>
          <a:p>
            <a:pPr algn="l">
              <a:lnSpc>
                <a:spcPts val="4277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t="0" r="-1250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545051"/>
            <a:ext cx="8401137" cy="24127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9"/>
              </a:lnSpc>
            </a:pPr>
            <a:r>
              <a:rPr lang="en-US" sz="7310" spc="-358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REGISTER FILE &amp;</a:t>
            </a:r>
          </a:p>
          <a:p>
            <a:pPr algn="l">
              <a:lnSpc>
                <a:spcPts val="9649"/>
              </a:lnSpc>
            </a:pPr>
            <a:r>
              <a:rPr lang="en-US" sz="7310" spc="-358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IMMEDIATE GENERATOR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4041943"/>
            <a:ext cx="5815634" cy="32538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10312" indent="-355156" lvl="1">
              <a:lnSpc>
                <a:spcPts val="4277"/>
              </a:lnSpc>
              <a:buFont typeface="Arial"/>
              <a:buChar char="•"/>
            </a:pPr>
            <a:r>
              <a:rPr lang="en-US" sz="3290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32 Registers</a:t>
            </a:r>
          </a:p>
          <a:p>
            <a:pPr algn="l" marL="710312" indent="-355156" lvl="1">
              <a:lnSpc>
                <a:spcPts val="4277"/>
              </a:lnSpc>
              <a:buFont typeface="Arial"/>
              <a:buChar char="•"/>
            </a:pPr>
            <a:r>
              <a:rPr lang="en-US" sz="3290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x0 always 0</a:t>
            </a:r>
          </a:p>
          <a:p>
            <a:pPr algn="l" marL="710312" indent="-355156" lvl="1">
              <a:lnSpc>
                <a:spcPts val="4277"/>
              </a:lnSpc>
              <a:buFont typeface="Arial"/>
              <a:buChar char="•"/>
            </a:pPr>
            <a:r>
              <a:rPr lang="en-US" sz="3290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Two read ports</a:t>
            </a:r>
          </a:p>
          <a:p>
            <a:pPr algn="l" marL="710312" indent="-355156" lvl="1">
              <a:lnSpc>
                <a:spcPts val="4277"/>
              </a:lnSpc>
              <a:buFont typeface="Arial"/>
              <a:buChar char="•"/>
            </a:pPr>
            <a:r>
              <a:rPr lang="en-US" sz="3290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One write port</a:t>
            </a:r>
          </a:p>
          <a:p>
            <a:pPr algn="l" marL="710312" indent="-355156" lvl="1">
              <a:lnSpc>
                <a:spcPts val="4277"/>
              </a:lnSpc>
              <a:buFont typeface="Arial"/>
              <a:buChar char="•"/>
            </a:pPr>
            <a:r>
              <a:rPr lang="en-US" sz="3290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Synchronous write</a:t>
            </a:r>
          </a:p>
          <a:p>
            <a:pPr algn="l" marL="710312" indent="-355156" lvl="1">
              <a:lnSpc>
                <a:spcPts val="4277"/>
              </a:lnSpc>
              <a:buFont typeface="Arial"/>
              <a:buChar char="•"/>
            </a:pPr>
            <a:r>
              <a:rPr lang="en-US" sz="3290" spc="-9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Asynchronous read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1982221" y="1959735"/>
            <a:ext cx="2885660" cy="1122271"/>
            <a:chOff x="0" y="0"/>
            <a:chExt cx="760009" cy="29557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60009" cy="295578"/>
            </a:xfrm>
            <a:custGeom>
              <a:avLst/>
              <a:gdLst/>
              <a:ahLst/>
              <a:cxnLst/>
              <a:rect r="r" b="b" t="t" l="l"/>
              <a:pathLst>
                <a:path h="295578" w="760009">
                  <a:moveTo>
                    <a:pt x="45609" y="0"/>
                  </a:moveTo>
                  <a:lnTo>
                    <a:pt x="714400" y="0"/>
                  </a:lnTo>
                  <a:cubicBezTo>
                    <a:pt x="726496" y="0"/>
                    <a:pt x="738097" y="4805"/>
                    <a:pt x="746651" y="13359"/>
                  </a:cubicBezTo>
                  <a:cubicBezTo>
                    <a:pt x="755204" y="21912"/>
                    <a:pt x="760009" y="33513"/>
                    <a:pt x="760009" y="45609"/>
                  </a:cubicBezTo>
                  <a:lnTo>
                    <a:pt x="760009" y="249968"/>
                  </a:lnTo>
                  <a:cubicBezTo>
                    <a:pt x="760009" y="275158"/>
                    <a:pt x="739589" y="295578"/>
                    <a:pt x="714400" y="295578"/>
                  </a:cubicBezTo>
                  <a:lnTo>
                    <a:pt x="45609" y="295578"/>
                  </a:lnTo>
                  <a:cubicBezTo>
                    <a:pt x="20420" y="295578"/>
                    <a:pt x="0" y="275158"/>
                    <a:pt x="0" y="249968"/>
                  </a:cubicBezTo>
                  <a:lnTo>
                    <a:pt x="0" y="45609"/>
                  </a:lnTo>
                  <a:cubicBezTo>
                    <a:pt x="0" y="20420"/>
                    <a:pt x="20420" y="0"/>
                    <a:pt x="45609" y="0"/>
                  </a:cubicBezTo>
                  <a:close/>
                </a:path>
              </a:pathLst>
            </a:custGeom>
            <a:solidFill>
              <a:srgbClr val="0E2135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760009" cy="3432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>
                  <a:solidFill>
                    <a:srgbClr val="FFFFFF"/>
                  </a:solidFill>
                  <a:latin typeface="Garet"/>
                  <a:ea typeface="Garet"/>
                  <a:cs typeface="Garet"/>
                  <a:sym typeface="Garet"/>
                </a:rPr>
                <a:t>Instruction [31:0]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96561" y="4430533"/>
            <a:ext cx="2885660" cy="1098520"/>
            <a:chOff x="0" y="0"/>
            <a:chExt cx="760009" cy="28932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60009" cy="289322"/>
            </a:xfrm>
            <a:custGeom>
              <a:avLst/>
              <a:gdLst/>
              <a:ahLst/>
              <a:cxnLst/>
              <a:rect r="r" b="b" t="t" l="l"/>
              <a:pathLst>
                <a:path h="289322" w="760009">
                  <a:moveTo>
                    <a:pt x="45609" y="0"/>
                  </a:moveTo>
                  <a:lnTo>
                    <a:pt x="714400" y="0"/>
                  </a:lnTo>
                  <a:cubicBezTo>
                    <a:pt x="726496" y="0"/>
                    <a:pt x="738097" y="4805"/>
                    <a:pt x="746651" y="13359"/>
                  </a:cubicBezTo>
                  <a:cubicBezTo>
                    <a:pt x="755204" y="21912"/>
                    <a:pt x="760009" y="33513"/>
                    <a:pt x="760009" y="45609"/>
                  </a:cubicBezTo>
                  <a:lnTo>
                    <a:pt x="760009" y="243713"/>
                  </a:lnTo>
                  <a:cubicBezTo>
                    <a:pt x="760009" y="268902"/>
                    <a:pt x="739589" y="289322"/>
                    <a:pt x="714400" y="289322"/>
                  </a:cubicBezTo>
                  <a:lnTo>
                    <a:pt x="45609" y="289322"/>
                  </a:lnTo>
                  <a:cubicBezTo>
                    <a:pt x="20420" y="289322"/>
                    <a:pt x="0" y="268902"/>
                    <a:pt x="0" y="243713"/>
                  </a:cubicBezTo>
                  <a:lnTo>
                    <a:pt x="0" y="45609"/>
                  </a:lnTo>
                  <a:cubicBezTo>
                    <a:pt x="0" y="20420"/>
                    <a:pt x="20420" y="0"/>
                    <a:pt x="45609" y="0"/>
                  </a:cubicBezTo>
                  <a:close/>
                </a:path>
              </a:pathLst>
            </a:custGeom>
            <a:solidFill>
              <a:srgbClr val="0E2135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760009" cy="3369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>
                  <a:solidFill>
                    <a:srgbClr val="FFFFFF"/>
                  </a:solidFill>
                  <a:latin typeface="Garet"/>
                  <a:ea typeface="Garet"/>
                  <a:cs typeface="Garet"/>
                  <a:sym typeface="Garet"/>
                </a:rPr>
                <a:t>Immediate Generator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4867881" y="4428591"/>
            <a:ext cx="2885660" cy="1098520"/>
            <a:chOff x="0" y="0"/>
            <a:chExt cx="760009" cy="28932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60009" cy="289322"/>
            </a:xfrm>
            <a:custGeom>
              <a:avLst/>
              <a:gdLst/>
              <a:ahLst/>
              <a:cxnLst/>
              <a:rect r="r" b="b" t="t" l="l"/>
              <a:pathLst>
                <a:path h="289322" w="760009">
                  <a:moveTo>
                    <a:pt x="45609" y="0"/>
                  </a:moveTo>
                  <a:lnTo>
                    <a:pt x="714400" y="0"/>
                  </a:lnTo>
                  <a:cubicBezTo>
                    <a:pt x="726496" y="0"/>
                    <a:pt x="738097" y="4805"/>
                    <a:pt x="746651" y="13359"/>
                  </a:cubicBezTo>
                  <a:cubicBezTo>
                    <a:pt x="755204" y="21912"/>
                    <a:pt x="760009" y="33513"/>
                    <a:pt x="760009" y="45609"/>
                  </a:cubicBezTo>
                  <a:lnTo>
                    <a:pt x="760009" y="243713"/>
                  </a:lnTo>
                  <a:cubicBezTo>
                    <a:pt x="760009" y="268902"/>
                    <a:pt x="739589" y="289322"/>
                    <a:pt x="714400" y="289322"/>
                  </a:cubicBezTo>
                  <a:lnTo>
                    <a:pt x="45609" y="289322"/>
                  </a:lnTo>
                  <a:cubicBezTo>
                    <a:pt x="20420" y="289322"/>
                    <a:pt x="0" y="268902"/>
                    <a:pt x="0" y="243713"/>
                  </a:cubicBezTo>
                  <a:lnTo>
                    <a:pt x="0" y="45609"/>
                  </a:lnTo>
                  <a:cubicBezTo>
                    <a:pt x="0" y="20420"/>
                    <a:pt x="20420" y="0"/>
                    <a:pt x="45609" y="0"/>
                  </a:cubicBezTo>
                  <a:close/>
                </a:path>
              </a:pathLst>
            </a:custGeom>
            <a:solidFill>
              <a:srgbClr val="0E2135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760009" cy="3369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>
                  <a:solidFill>
                    <a:srgbClr val="FFFFFF"/>
                  </a:solidFill>
                  <a:latin typeface="Garet"/>
                  <a:ea typeface="Garet"/>
                  <a:cs typeface="Garet"/>
                  <a:sym typeface="Garet"/>
                </a:rPr>
                <a:t>Register File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9096561" y="6391054"/>
            <a:ext cx="2885660" cy="1237534"/>
            <a:chOff x="0" y="0"/>
            <a:chExt cx="760009" cy="32593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60009" cy="325935"/>
            </a:xfrm>
            <a:custGeom>
              <a:avLst/>
              <a:gdLst/>
              <a:ahLst/>
              <a:cxnLst/>
              <a:rect r="r" b="b" t="t" l="l"/>
              <a:pathLst>
                <a:path h="325935" w="760009">
                  <a:moveTo>
                    <a:pt x="45609" y="0"/>
                  </a:moveTo>
                  <a:lnTo>
                    <a:pt x="714400" y="0"/>
                  </a:lnTo>
                  <a:cubicBezTo>
                    <a:pt x="726496" y="0"/>
                    <a:pt x="738097" y="4805"/>
                    <a:pt x="746651" y="13359"/>
                  </a:cubicBezTo>
                  <a:cubicBezTo>
                    <a:pt x="755204" y="21912"/>
                    <a:pt x="760009" y="33513"/>
                    <a:pt x="760009" y="45609"/>
                  </a:cubicBezTo>
                  <a:lnTo>
                    <a:pt x="760009" y="280326"/>
                  </a:lnTo>
                  <a:cubicBezTo>
                    <a:pt x="760009" y="305515"/>
                    <a:pt x="739589" y="325935"/>
                    <a:pt x="714400" y="325935"/>
                  </a:cubicBezTo>
                  <a:lnTo>
                    <a:pt x="45609" y="325935"/>
                  </a:lnTo>
                  <a:cubicBezTo>
                    <a:pt x="20420" y="325935"/>
                    <a:pt x="0" y="305515"/>
                    <a:pt x="0" y="280326"/>
                  </a:cubicBezTo>
                  <a:lnTo>
                    <a:pt x="0" y="45609"/>
                  </a:lnTo>
                  <a:cubicBezTo>
                    <a:pt x="0" y="20420"/>
                    <a:pt x="20420" y="0"/>
                    <a:pt x="45609" y="0"/>
                  </a:cubicBezTo>
                  <a:close/>
                </a:path>
              </a:pathLst>
            </a:custGeom>
            <a:solidFill>
              <a:srgbClr val="0E2135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47625"/>
              <a:ext cx="760009" cy="37356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>
                  <a:solidFill>
                    <a:srgbClr val="FFFFFF"/>
                  </a:solidFill>
                  <a:latin typeface="Garet"/>
                  <a:ea typeface="Garet"/>
                  <a:cs typeface="Garet"/>
                  <a:sym typeface="Garet"/>
                </a:rPr>
                <a:t>Immediate Generator Output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4867881" y="6460561"/>
            <a:ext cx="2885660" cy="1098520"/>
            <a:chOff x="0" y="0"/>
            <a:chExt cx="760009" cy="28932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60009" cy="289322"/>
            </a:xfrm>
            <a:custGeom>
              <a:avLst/>
              <a:gdLst/>
              <a:ahLst/>
              <a:cxnLst/>
              <a:rect r="r" b="b" t="t" l="l"/>
              <a:pathLst>
                <a:path h="289322" w="760009">
                  <a:moveTo>
                    <a:pt x="45609" y="0"/>
                  </a:moveTo>
                  <a:lnTo>
                    <a:pt x="714400" y="0"/>
                  </a:lnTo>
                  <a:cubicBezTo>
                    <a:pt x="726496" y="0"/>
                    <a:pt x="738097" y="4805"/>
                    <a:pt x="746651" y="13359"/>
                  </a:cubicBezTo>
                  <a:cubicBezTo>
                    <a:pt x="755204" y="21912"/>
                    <a:pt x="760009" y="33513"/>
                    <a:pt x="760009" y="45609"/>
                  </a:cubicBezTo>
                  <a:lnTo>
                    <a:pt x="760009" y="243713"/>
                  </a:lnTo>
                  <a:cubicBezTo>
                    <a:pt x="760009" y="268902"/>
                    <a:pt x="739589" y="289322"/>
                    <a:pt x="714400" y="289322"/>
                  </a:cubicBezTo>
                  <a:lnTo>
                    <a:pt x="45609" y="289322"/>
                  </a:lnTo>
                  <a:cubicBezTo>
                    <a:pt x="20420" y="289322"/>
                    <a:pt x="0" y="268902"/>
                    <a:pt x="0" y="243713"/>
                  </a:cubicBezTo>
                  <a:lnTo>
                    <a:pt x="0" y="45609"/>
                  </a:lnTo>
                  <a:cubicBezTo>
                    <a:pt x="0" y="20420"/>
                    <a:pt x="20420" y="0"/>
                    <a:pt x="45609" y="0"/>
                  </a:cubicBezTo>
                  <a:close/>
                </a:path>
              </a:pathLst>
            </a:custGeom>
            <a:solidFill>
              <a:srgbClr val="0E2135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760009" cy="3369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>
                  <a:solidFill>
                    <a:srgbClr val="FFFFFF"/>
                  </a:solidFill>
                  <a:latin typeface="Garet"/>
                  <a:ea typeface="Garet"/>
                  <a:cs typeface="Garet"/>
                  <a:sym typeface="Garet"/>
                </a:rPr>
                <a:t>rs1, rs2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9096561" y="8490590"/>
            <a:ext cx="2885660" cy="1098520"/>
            <a:chOff x="0" y="0"/>
            <a:chExt cx="760009" cy="28932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60009" cy="289322"/>
            </a:xfrm>
            <a:custGeom>
              <a:avLst/>
              <a:gdLst/>
              <a:ahLst/>
              <a:cxnLst/>
              <a:rect r="r" b="b" t="t" l="l"/>
              <a:pathLst>
                <a:path h="289322" w="760009">
                  <a:moveTo>
                    <a:pt x="45609" y="0"/>
                  </a:moveTo>
                  <a:lnTo>
                    <a:pt x="714400" y="0"/>
                  </a:lnTo>
                  <a:cubicBezTo>
                    <a:pt x="726496" y="0"/>
                    <a:pt x="738097" y="4805"/>
                    <a:pt x="746651" y="13359"/>
                  </a:cubicBezTo>
                  <a:cubicBezTo>
                    <a:pt x="755204" y="21912"/>
                    <a:pt x="760009" y="33513"/>
                    <a:pt x="760009" y="45609"/>
                  </a:cubicBezTo>
                  <a:lnTo>
                    <a:pt x="760009" y="243713"/>
                  </a:lnTo>
                  <a:cubicBezTo>
                    <a:pt x="760009" y="268902"/>
                    <a:pt x="739589" y="289322"/>
                    <a:pt x="714400" y="289322"/>
                  </a:cubicBezTo>
                  <a:lnTo>
                    <a:pt x="45609" y="289322"/>
                  </a:lnTo>
                  <a:cubicBezTo>
                    <a:pt x="20420" y="289322"/>
                    <a:pt x="0" y="268902"/>
                    <a:pt x="0" y="243713"/>
                  </a:cubicBezTo>
                  <a:lnTo>
                    <a:pt x="0" y="45609"/>
                  </a:lnTo>
                  <a:cubicBezTo>
                    <a:pt x="0" y="20420"/>
                    <a:pt x="20420" y="0"/>
                    <a:pt x="45609" y="0"/>
                  </a:cubicBezTo>
                  <a:close/>
                </a:path>
              </a:pathLst>
            </a:custGeom>
            <a:solidFill>
              <a:srgbClr val="0E2135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47625"/>
              <a:ext cx="760009" cy="3369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>
                  <a:solidFill>
                    <a:srgbClr val="FFFFFF"/>
                  </a:solidFill>
                  <a:latin typeface="Garet"/>
                  <a:ea typeface="Garet"/>
                  <a:cs typeface="Garet"/>
                  <a:sym typeface="Garet"/>
                </a:rPr>
                <a:t>ALU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4867881" y="8490590"/>
            <a:ext cx="2885660" cy="1098520"/>
            <a:chOff x="0" y="0"/>
            <a:chExt cx="760009" cy="28932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60009" cy="289322"/>
            </a:xfrm>
            <a:custGeom>
              <a:avLst/>
              <a:gdLst/>
              <a:ahLst/>
              <a:cxnLst/>
              <a:rect r="r" b="b" t="t" l="l"/>
              <a:pathLst>
                <a:path h="289322" w="760009">
                  <a:moveTo>
                    <a:pt x="45609" y="0"/>
                  </a:moveTo>
                  <a:lnTo>
                    <a:pt x="714400" y="0"/>
                  </a:lnTo>
                  <a:cubicBezTo>
                    <a:pt x="726496" y="0"/>
                    <a:pt x="738097" y="4805"/>
                    <a:pt x="746651" y="13359"/>
                  </a:cubicBezTo>
                  <a:cubicBezTo>
                    <a:pt x="755204" y="21912"/>
                    <a:pt x="760009" y="33513"/>
                    <a:pt x="760009" y="45609"/>
                  </a:cubicBezTo>
                  <a:lnTo>
                    <a:pt x="760009" y="243713"/>
                  </a:lnTo>
                  <a:cubicBezTo>
                    <a:pt x="760009" y="268902"/>
                    <a:pt x="739589" y="289322"/>
                    <a:pt x="714400" y="289322"/>
                  </a:cubicBezTo>
                  <a:lnTo>
                    <a:pt x="45609" y="289322"/>
                  </a:lnTo>
                  <a:cubicBezTo>
                    <a:pt x="20420" y="289322"/>
                    <a:pt x="0" y="268902"/>
                    <a:pt x="0" y="243713"/>
                  </a:cubicBezTo>
                  <a:lnTo>
                    <a:pt x="0" y="45609"/>
                  </a:lnTo>
                  <a:cubicBezTo>
                    <a:pt x="0" y="20420"/>
                    <a:pt x="20420" y="0"/>
                    <a:pt x="45609" y="0"/>
                  </a:cubicBezTo>
                  <a:close/>
                </a:path>
              </a:pathLst>
            </a:custGeom>
            <a:solidFill>
              <a:srgbClr val="0E2135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760009" cy="3369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  <a:spcBef>
                  <a:spcPct val="0"/>
                </a:spcBef>
              </a:pPr>
              <a:r>
                <a:rPr lang="en-US" sz="2499">
                  <a:solidFill>
                    <a:srgbClr val="FFFFFF"/>
                  </a:solidFill>
                  <a:latin typeface="Garet"/>
                  <a:ea typeface="Garet"/>
                  <a:cs typeface="Garet"/>
                  <a:sym typeface="Garet"/>
                </a:rPr>
                <a:t>ALU</a:t>
              </a:r>
            </a:p>
          </p:txBody>
        </p:sp>
      </p:grpSp>
      <p:sp>
        <p:nvSpPr>
          <p:cNvPr name="AutoShape 26" id="26"/>
          <p:cNvSpPr/>
          <p:nvPr/>
        </p:nvSpPr>
        <p:spPr>
          <a:xfrm flipV="true">
            <a:off x="10539391" y="2520871"/>
            <a:ext cx="1442830" cy="1909662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7" id="27"/>
          <p:cNvSpPr/>
          <p:nvPr/>
        </p:nvSpPr>
        <p:spPr>
          <a:xfrm>
            <a:off x="14867881" y="2520871"/>
            <a:ext cx="1442830" cy="190772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8" id="28"/>
          <p:cNvSpPr/>
          <p:nvPr/>
        </p:nvSpPr>
        <p:spPr>
          <a:xfrm flipV="true">
            <a:off x="10539391" y="5529053"/>
            <a:ext cx="0" cy="862001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9" id="29"/>
          <p:cNvSpPr/>
          <p:nvPr/>
        </p:nvSpPr>
        <p:spPr>
          <a:xfrm flipV="true">
            <a:off x="10539391" y="7628589"/>
            <a:ext cx="0" cy="862001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0" id="30"/>
          <p:cNvSpPr/>
          <p:nvPr/>
        </p:nvSpPr>
        <p:spPr>
          <a:xfrm flipV="true">
            <a:off x="16310711" y="5527111"/>
            <a:ext cx="0" cy="93345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1" id="31"/>
          <p:cNvSpPr/>
          <p:nvPr/>
        </p:nvSpPr>
        <p:spPr>
          <a:xfrm flipV="true">
            <a:off x="16310711" y="7559082"/>
            <a:ext cx="0" cy="931508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t="0" r="-1250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681456" y="2460763"/>
            <a:ext cx="8577844" cy="6797537"/>
          </a:xfrm>
          <a:custGeom>
            <a:avLst/>
            <a:gdLst/>
            <a:ahLst/>
            <a:cxnLst/>
            <a:rect r="r" b="b" t="t" l="l"/>
            <a:pathLst>
              <a:path h="6797537" w="8577844">
                <a:moveTo>
                  <a:pt x="0" y="0"/>
                </a:moveTo>
                <a:lnTo>
                  <a:pt x="8577844" y="0"/>
                </a:lnTo>
                <a:lnTo>
                  <a:pt x="8577844" y="6797537"/>
                </a:lnTo>
                <a:lnTo>
                  <a:pt x="0" y="67975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942975"/>
            <a:ext cx="13427679" cy="11979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3"/>
              </a:lnSpc>
            </a:pPr>
            <a:r>
              <a:rPr lang="en-US" sz="7305" spc="-357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PROGRAM COUNTER &amp; BRANCH LOGIC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794050"/>
            <a:ext cx="6466604" cy="6464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0962" indent="-310481" lvl="1">
              <a:lnSpc>
                <a:spcPts val="3739"/>
              </a:lnSpc>
              <a:buFont typeface="Arial"/>
              <a:buChar char="•"/>
            </a:pP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Designed the Program Counter (PC) unit for instruction sequencing.</a:t>
            </a:r>
          </a:p>
          <a:p>
            <a:pPr algn="l" marL="620962" indent="-310481" lvl="1">
              <a:lnSpc>
                <a:spcPts val="3739"/>
              </a:lnSpc>
              <a:buFont typeface="Arial"/>
              <a:buChar char="•"/>
            </a:pP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PC handles two cases:</a:t>
            </a:r>
          </a:p>
          <a:p>
            <a:pPr algn="l" marL="620962" indent="-310481" lvl="1">
              <a:lnSpc>
                <a:spcPts val="3739"/>
              </a:lnSpc>
              <a:buFont typeface="Arial"/>
              <a:buChar char="•"/>
            </a:pP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Normal instruction: PC increments by 4.</a:t>
            </a:r>
          </a:p>
          <a:p>
            <a:pPr algn="l" marL="620962" indent="-310481" lvl="1">
              <a:lnSpc>
                <a:spcPts val="3739"/>
              </a:lnSpc>
              <a:buFont typeface="Arial"/>
              <a:buChar char="•"/>
            </a:pP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Branch taken: PC updated to branch target address.</a:t>
            </a:r>
          </a:p>
          <a:p>
            <a:pPr algn="l" marL="620962" indent="-310481" lvl="1">
              <a:lnSpc>
                <a:spcPts val="3739"/>
              </a:lnSpc>
              <a:buFont typeface="Arial"/>
              <a:buChar char="•"/>
            </a:pP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Implemented asynchronous reset to initialize PC to zero.</a:t>
            </a:r>
          </a:p>
          <a:p>
            <a:pPr algn="l" marL="620962" indent="-310481" lvl="1">
              <a:lnSpc>
                <a:spcPts val="3739"/>
              </a:lnSpc>
              <a:buFont typeface="Arial"/>
              <a:buChar char="•"/>
            </a:pP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Added control signals:</a:t>
            </a:r>
          </a:p>
          <a:p>
            <a:pPr algn="l" marL="620962" indent="-310481" lvl="1">
              <a:lnSpc>
                <a:spcPts val="3739"/>
              </a:lnSpc>
              <a:buFont typeface="Arial"/>
              <a:buChar char="•"/>
            </a:pP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PCWrite → allows stalling of PC.</a:t>
            </a:r>
          </a:p>
          <a:p>
            <a:pPr algn="l" marL="620962" indent="-310481" lvl="1">
              <a:lnSpc>
                <a:spcPts val="3739"/>
              </a:lnSpc>
              <a:buFont typeface="Arial"/>
              <a:buChar char="•"/>
            </a:pP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BranchTaken → indicates if a branch is taken.</a:t>
            </a:r>
          </a:p>
          <a:p>
            <a:pPr algn="l">
              <a:lnSpc>
                <a:spcPts val="3739"/>
              </a:lnSpc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t="0" r="-1250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2554299"/>
            <a:ext cx="5368894" cy="7496630"/>
          </a:xfrm>
          <a:custGeom>
            <a:avLst/>
            <a:gdLst/>
            <a:ahLst/>
            <a:cxnLst/>
            <a:rect r="r" b="b" t="t" l="l"/>
            <a:pathLst>
              <a:path h="7496630" w="5368894">
                <a:moveTo>
                  <a:pt x="0" y="0"/>
                </a:moveTo>
                <a:lnTo>
                  <a:pt x="5368894" y="0"/>
                </a:lnTo>
                <a:lnTo>
                  <a:pt x="5368894" y="7496630"/>
                </a:lnTo>
                <a:lnTo>
                  <a:pt x="0" y="74966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542" r="0" b="-542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742540" y="4553222"/>
            <a:ext cx="5762911" cy="5497706"/>
          </a:xfrm>
          <a:custGeom>
            <a:avLst/>
            <a:gdLst/>
            <a:ahLst/>
            <a:cxnLst/>
            <a:rect r="r" b="b" t="t" l="l"/>
            <a:pathLst>
              <a:path h="5497706" w="5762911">
                <a:moveTo>
                  <a:pt x="0" y="0"/>
                </a:moveTo>
                <a:lnTo>
                  <a:pt x="5762911" y="0"/>
                </a:lnTo>
                <a:lnTo>
                  <a:pt x="5762911" y="5497707"/>
                </a:lnTo>
                <a:lnTo>
                  <a:pt x="0" y="54977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5889" r="0" b="-705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942975"/>
            <a:ext cx="13427679" cy="11979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3"/>
              </a:lnSpc>
            </a:pPr>
            <a:r>
              <a:rPr lang="en-US" sz="7305" spc="-357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PROGRAM COUNTER &amp; BRANCH LOGIC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693468" y="2525724"/>
            <a:ext cx="6466604" cy="23035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0962" indent="-310481" lvl="1">
              <a:lnSpc>
                <a:spcPts val="3739"/>
              </a:lnSpc>
              <a:buFont typeface="Arial"/>
              <a:buChar char="•"/>
            </a:pP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Tested functionality using simulation:</a:t>
            </a:r>
          </a:p>
          <a:p>
            <a:pPr algn="l" marL="620962" indent="-310481" lvl="1">
              <a:lnSpc>
                <a:spcPts val="3739"/>
              </a:lnSpc>
              <a:buFont typeface="Arial"/>
              <a:buChar char="•"/>
            </a:pP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Normal PC increment</a:t>
            </a:r>
          </a:p>
          <a:p>
            <a:pPr algn="l" marL="620962" indent="-310481" lvl="1">
              <a:lnSpc>
                <a:spcPts val="3739"/>
              </a:lnSpc>
              <a:buFont typeface="Arial"/>
              <a:buChar char="•"/>
            </a:pP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Branch taken</a:t>
            </a:r>
          </a:p>
          <a:p>
            <a:pPr algn="l" marL="620962" indent="-310481" lvl="1">
              <a:lnSpc>
                <a:spcPts val="3739"/>
              </a:lnSpc>
              <a:buFont typeface="Arial"/>
              <a:buChar char="•"/>
            </a:pP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Branch not taken</a:t>
            </a:r>
          </a:p>
          <a:p>
            <a:pPr algn="l">
              <a:lnSpc>
                <a:spcPts val="3739"/>
              </a:lnSpc>
            </a:pP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t="0" r="-1250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1370042" y="5143500"/>
            <a:ext cx="6791551" cy="4989739"/>
          </a:xfrm>
          <a:custGeom>
            <a:avLst/>
            <a:gdLst/>
            <a:ahLst/>
            <a:cxnLst/>
            <a:rect r="r" b="b" t="t" l="l"/>
            <a:pathLst>
              <a:path h="4989739" w="6791551">
                <a:moveTo>
                  <a:pt x="0" y="0"/>
                </a:moveTo>
                <a:lnTo>
                  <a:pt x="6791551" y="0"/>
                </a:lnTo>
                <a:lnTo>
                  <a:pt x="6791551" y="4989739"/>
                </a:lnTo>
                <a:lnTo>
                  <a:pt x="0" y="49897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-29747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942975"/>
            <a:ext cx="16633088" cy="2412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3"/>
              </a:lnSpc>
            </a:pPr>
            <a:r>
              <a:rPr lang="en-US" sz="7305" spc="-357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RISC-V PIPELINED PROCESSOR</a:t>
            </a:r>
          </a:p>
          <a:p>
            <a:pPr algn="l">
              <a:lnSpc>
                <a:spcPts val="9643"/>
              </a:lnSpc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703568"/>
            <a:ext cx="8888588" cy="69211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38"/>
              </a:lnSpc>
            </a:pP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Pipeline Stage Operations &amp; Decisions</a:t>
            </a:r>
          </a:p>
          <a:p>
            <a:pPr algn="l" marL="620961" indent="-310481" lvl="1">
              <a:lnSpc>
                <a:spcPts val="3738"/>
              </a:lnSpc>
              <a:buFont typeface="Arial"/>
              <a:buChar char="•"/>
            </a:pP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IF → ID: Inst</a:t>
            </a: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ruction is fetched using the PC; PC is updated based on sequential execution or a branch decision.</a:t>
            </a:r>
          </a:p>
          <a:p>
            <a:pPr algn="l" marL="620961" indent="-310481" lvl="1">
              <a:lnSpc>
                <a:spcPts val="3738"/>
              </a:lnSpc>
              <a:buFont typeface="Arial"/>
              <a:buChar char="•"/>
            </a:pP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ID → EX: I</a:t>
            </a: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nstruction is decoded, c</a:t>
            </a: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ontrol signals </a:t>
            </a: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are generated, source registers are read, and immediates are prepared.</a:t>
            </a:r>
          </a:p>
          <a:p>
            <a:pPr algn="l" marL="620961" indent="-310481" lvl="1">
              <a:lnSpc>
                <a:spcPts val="3738"/>
              </a:lnSpc>
              <a:buFont typeface="Arial"/>
              <a:buChar char="•"/>
            </a:pP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 → MEM: ALU performs arithmetic/logic operations, computes memory addresses, and evaluates branch conditions.</a:t>
            </a:r>
          </a:p>
          <a:p>
            <a:pPr algn="l" marL="620961" indent="-310481" lvl="1">
              <a:lnSpc>
                <a:spcPts val="3738"/>
              </a:lnSpc>
              <a:buFont typeface="Arial"/>
              <a:buChar char="•"/>
            </a:pP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MEM → WB: Da</a:t>
            </a: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ta memory is accessed for load/store instructions, and the correct result is selected.</a:t>
            </a:r>
          </a:p>
          <a:p>
            <a:pPr algn="l" marL="620961" indent="-310481" lvl="1">
              <a:lnSpc>
                <a:spcPts val="3738"/>
              </a:lnSpc>
              <a:buFont typeface="Arial"/>
              <a:buChar char="•"/>
            </a:pP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WB: Final result is written back to</a:t>
            </a:r>
            <a:r>
              <a:rPr lang="en-US" sz="2876" spc="-86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the register file if required by the instruction.</a:t>
            </a:r>
          </a:p>
          <a:p>
            <a:pPr algn="l">
              <a:lnSpc>
                <a:spcPts val="2829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11582441" y="1558177"/>
            <a:ext cx="6366751" cy="3585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74"/>
              </a:lnSpc>
            </a:pPr>
            <a:r>
              <a:rPr lang="en-US" b="true" sz="3248" spc="-97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Hazard Handling</a:t>
            </a:r>
          </a:p>
          <a:p>
            <a:pPr algn="l">
              <a:lnSpc>
                <a:spcPts val="3840"/>
              </a:lnSpc>
            </a:pPr>
            <a:r>
              <a:rPr lang="en-US" sz="2612" spc="-78" b="true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Data Hazards: </a:t>
            </a:r>
            <a:r>
              <a:rPr lang="en-US" sz="2612" spc="-7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Forward</a:t>
            </a:r>
            <a:r>
              <a:rPr lang="en-US" sz="2612" spc="-7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</a:t>
            </a:r>
            <a:r>
              <a:rPr lang="en-US" sz="2612" spc="-7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ng unit  enables ALU-to-ALU and MEM-to-ALU bypassing, ensuring zero stalls for register dependencies.</a:t>
            </a:r>
          </a:p>
          <a:p>
            <a:pPr algn="l">
              <a:lnSpc>
                <a:spcPts val="3840"/>
              </a:lnSpc>
            </a:pPr>
            <a:r>
              <a:rPr lang="en-US" sz="2612" spc="-78" b="true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Control Hazards:</a:t>
            </a:r>
          </a:p>
          <a:p>
            <a:pPr algn="l" marL="564001" indent="-282000" lvl="1">
              <a:lnSpc>
                <a:spcPts val="3840"/>
              </a:lnSpc>
              <a:buFont typeface="Arial"/>
              <a:buChar char="•"/>
            </a:pPr>
            <a:r>
              <a:rPr lang="en-US" sz="2612" spc="-7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Simple prediction: branch not taken</a:t>
            </a:r>
          </a:p>
          <a:p>
            <a:pPr algn="l">
              <a:lnSpc>
                <a:spcPts val="3396"/>
              </a:lnSpc>
            </a:pP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t="0" r="-1250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657800" y="2471879"/>
            <a:ext cx="9039281" cy="3178648"/>
          </a:xfrm>
          <a:custGeom>
            <a:avLst/>
            <a:gdLst/>
            <a:ahLst/>
            <a:cxnLst/>
            <a:rect r="r" b="b" t="t" l="l"/>
            <a:pathLst>
              <a:path h="3178648" w="9039281">
                <a:moveTo>
                  <a:pt x="0" y="0"/>
                </a:moveTo>
                <a:lnTo>
                  <a:pt x="9039281" y="0"/>
                </a:lnTo>
                <a:lnTo>
                  <a:pt x="9039281" y="3178648"/>
                </a:lnTo>
                <a:lnTo>
                  <a:pt x="0" y="31786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55345" t="-45426" r="-3110" b="-139583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657800" y="5503052"/>
            <a:ext cx="9417356" cy="2632059"/>
          </a:xfrm>
          <a:custGeom>
            <a:avLst/>
            <a:gdLst/>
            <a:ahLst/>
            <a:cxnLst/>
            <a:rect r="r" b="b" t="t" l="l"/>
            <a:pathLst>
              <a:path h="2632059" w="9417356">
                <a:moveTo>
                  <a:pt x="0" y="0"/>
                </a:moveTo>
                <a:lnTo>
                  <a:pt x="9417356" y="0"/>
                </a:lnTo>
                <a:lnTo>
                  <a:pt x="9417356" y="2632058"/>
                </a:lnTo>
                <a:lnTo>
                  <a:pt x="0" y="26320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59457" t="-78686" r="-11845" b="-166076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942975"/>
            <a:ext cx="16633088" cy="2412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3"/>
              </a:lnSpc>
            </a:pPr>
            <a:r>
              <a:rPr lang="en-US" sz="7305" spc="-357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IMPLEMENTATION, VERIFICATION &amp; RESULTS</a:t>
            </a:r>
          </a:p>
          <a:p>
            <a:pPr algn="l">
              <a:lnSpc>
                <a:spcPts val="9643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2774997"/>
            <a:ext cx="6273275" cy="46989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1"/>
              </a:lnSpc>
            </a:pP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Verification</a:t>
            </a:r>
          </a:p>
          <a:p>
            <a:pPr algn="l" marL="636351" indent="-318176" lvl="1">
              <a:lnSpc>
                <a:spcPts val="3831"/>
              </a:lnSpc>
              <a:buFont typeface="Arial"/>
              <a:buChar char="•"/>
            </a:pP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Implemented and simulated in Vivado, verifying:</a:t>
            </a:r>
          </a:p>
          <a:p>
            <a:pPr algn="l" marL="1272702" indent="-424234" lvl="2">
              <a:lnSpc>
                <a:spcPts val="3831"/>
              </a:lnSpc>
              <a:buFont typeface="Arial"/>
              <a:buChar char="⚬"/>
            </a:pP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Correct instruction execution</a:t>
            </a:r>
          </a:p>
          <a:p>
            <a:pPr algn="l" marL="1272702" indent="-424234" lvl="2">
              <a:lnSpc>
                <a:spcPts val="3831"/>
              </a:lnSpc>
              <a:buFont typeface="Arial"/>
              <a:buChar char="⚬"/>
            </a:pP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Proper re</a:t>
            </a: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gister write-back</a:t>
            </a:r>
          </a:p>
          <a:p>
            <a:pPr algn="l" marL="1272702" indent="-424234" lvl="2">
              <a:lnSpc>
                <a:spcPts val="3831"/>
              </a:lnSpc>
              <a:buFont typeface="Arial"/>
              <a:buChar char="⚬"/>
            </a:pP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Correct m</a:t>
            </a: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emory load/store behavior</a:t>
            </a:r>
          </a:p>
          <a:p>
            <a:pPr algn="l" marL="1272702" indent="-424234" lvl="2">
              <a:lnSpc>
                <a:spcPts val="3831"/>
              </a:lnSpc>
              <a:buFont typeface="Arial"/>
              <a:buChar char="⚬"/>
            </a:pP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Accu</a:t>
            </a: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rate branch handling and pipeline flus</a:t>
            </a: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hing</a:t>
            </a:r>
          </a:p>
          <a:p>
            <a:pPr algn="l">
              <a:lnSpc>
                <a:spcPts val="3081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710200" y="7435803"/>
            <a:ext cx="12003746" cy="2304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1"/>
              </a:lnSpc>
            </a:pP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</a:t>
            </a: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esults</a:t>
            </a:r>
          </a:p>
          <a:p>
            <a:pPr algn="l" marL="636351" indent="-318176" lvl="1">
              <a:lnSpc>
                <a:spcPts val="3831"/>
              </a:lnSpc>
              <a:buFont typeface="Arial"/>
              <a:buChar char="•"/>
            </a:pP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Expected outputs observed in </a:t>
            </a: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simulation</a:t>
            </a:r>
          </a:p>
          <a:p>
            <a:pPr algn="l" marL="636351" indent="-318176" lvl="1">
              <a:lnSpc>
                <a:spcPts val="3831"/>
              </a:lnSpc>
              <a:buFont typeface="Arial"/>
              <a:buChar char="•"/>
            </a:pP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Processor executes RISC-V programs correctly under pipel</a:t>
            </a: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ining</a:t>
            </a:r>
          </a:p>
          <a:p>
            <a:pPr algn="l" marL="636351" indent="-318176" lvl="1">
              <a:lnSpc>
                <a:spcPts val="3831"/>
              </a:lnSpc>
              <a:buFont typeface="Arial"/>
              <a:buChar char="•"/>
            </a:pP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</a:t>
            </a: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 functi</a:t>
            </a: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onal stalls for </a:t>
            </a: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ALU-</a:t>
            </a: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to-ALU dependencies</a:t>
            </a:r>
          </a:p>
          <a:p>
            <a:pPr algn="l">
              <a:lnSpc>
                <a:spcPts val="3081"/>
              </a:lnSpc>
            </a:pP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9144000" y="50454"/>
            <a:ext cx="8929517" cy="4121316"/>
          </a:xfrm>
          <a:custGeom>
            <a:avLst/>
            <a:gdLst/>
            <a:ahLst/>
            <a:cxnLst/>
            <a:rect r="r" b="b" t="t" l="l"/>
            <a:pathLst>
              <a:path h="4121316" w="8929517">
                <a:moveTo>
                  <a:pt x="0" y="0"/>
                </a:moveTo>
                <a:lnTo>
                  <a:pt x="8929517" y="0"/>
                </a:lnTo>
                <a:lnTo>
                  <a:pt x="8929517" y="4121316"/>
                </a:lnTo>
                <a:lnTo>
                  <a:pt x="0" y="41213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7744" t="-29563" r="-3297" b="-7889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2436" y="50454"/>
            <a:ext cx="9121564" cy="5093046"/>
          </a:xfrm>
          <a:custGeom>
            <a:avLst/>
            <a:gdLst/>
            <a:ahLst/>
            <a:cxnLst/>
            <a:rect r="r" b="b" t="t" l="l"/>
            <a:pathLst>
              <a:path h="5093046" w="9121564">
                <a:moveTo>
                  <a:pt x="0" y="0"/>
                </a:moveTo>
                <a:lnTo>
                  <a:pt x="9121564" y="0"/>
                </a:lnTo>
                <a:lnTo>
                  <a:pt x="9121564" y="5093046"/>
                </a:lnTo>
                <a:lnTo>
                  <a:pt x="0" y="50930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68396" t="-25604" r="-3084" b="-47149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130016" y="5507994"/>
            <a:ext cx="9487373" cy="4390157"/>
          </a:xfrm>
          <a:custGeom>
            <a:avLst/>
            <a:gdLst/>
            <a:ahLst/>
            <a:cxnLst/>
            <a:rect r="r" b="b" t="t" l="l"/>
            <a:pathLst>
              <a:path h="4390157" w="9487373">
                <a:moveTo>
                  <a:pt x="0" y="0"/>
                </a:moveTo>
                <a:lnTo>
                  <a:pt x="9487373" y="0"/>
                </a:lnTo>
                <a:lnTo>
                  <a:pt x="9487373" y="4390157"/>
                </a:lnTo>
                <a:lnTo>
                  <a:pt x="0" y="439015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67568" t="-28620" r="-2669" b="-78320"/>
            </a:stretch>
          </a:blipFill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t="0" r="-1250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773191" y="5479489"/>
            <a:ext cx="11144106" cy="4350973"/>
          </a:xfrm>
          <a:custGeom>
            <a:avLst/>
            <a:gdLst/>
            <a:ahLst/>
            <a:cxnLst/>
            <a:rect r="r" b="b" t="t" l="l"/>
            <a:pathLst>
              <a:path h="4350973" w="11144106">
                <a:moveTo>
                  <a:pt x="0" y="0"/>
                </a:moveTo>
                <a:lnTo>
                  <a:pt x="11144106" y="0"/>
                </a:lnTo>
                <a:lnTo>
                  <a:pt x="11144106" y="4350974"/>
                </a:lnTo>
                <a:lnTo>
                  <a:pt x="0" y="43509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942975"/>
            <a:ext cx="16633088" cy="11935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3"/>
              </a:lnSpc>
            </a:pPr>
            <a:r>
              <a:rPr lang="en-US" sz="7305" spc="-357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DISCUSSION OF VERIFICATION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66502" y="2031783"/>
            <a:ext cx="17354996" cy="38795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9"/>
              </a:lnSpc>
            </a:pPr>
          </a:p>
          <a:p>
            <a:pPr algn="l" marL="636351" indent="-318175" lvl="1">
              <a:lnSpc>
                <a:spcPts val="4509"/>
              </a:lnSpc>
              <a:buAutoNum type="arabicPeriod" startAt="1"/>
            </a:pP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The ALU c</a:t>
            </a: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orrectly compared x24 and x7 in the beq instruction.</a:t>
            </a:r>
          </a:p>
          <a:p>
            <a:pPr algn="l" marL="636351" indent="-318175" lvl="1">
              <a:lnSpc>
                <a:spcPts val="4509"/>
              </a:lnSpc>
              <a:buAutoNum type="arabicPeriod" startAt="1"/>
            </a:pP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The Branch Logic detected the equal</a:t>
            </a: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ity and calculated the target PC.</a:t>
            </a:r>
          </a:p>
          <a:p>
            <a:pPr algn="l" marL="636351" indent="-318175" lvl="1">
              <a:lnSpc>
                <a:spcPts val="4509"/>
              </a:lnSpc>
              <a:buAutoNum type="arabicPeriod" startAt="1"/>
            </a:pP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Th</a:t>
            </a: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 IF/ID Flush successfully cleared the instructions that entered the pipe before the branch was resolved.</a:t>
            </a:r>
          </a:p>
          <a:p>
            <a:pPr algn="l" marL="636351" indent="-318175" lvl="1">
              <a:lnSpc>
                <a:spcPts val="4509"/>
              </a:lnSpc>
              <a:buAutoNum type="arabicPeriod" startAt="1"/>
            </a:pP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The Write-Back stage successfully committed the value 23 to the register file on t</a:t>
            </a:r>
            <a:r>
              <a:rPr lang="en-US" sz="2947" spc="-88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he negative edge of the clock.</a:t>
            </a:r>
          </a:p>
          <a:p>
            <a:pPr algn="l">
              <a:lnSpc>
                <a:spcPts val="3626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11953438" y="478635"/>
            <a:ext cx="6483954" cy="2112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38"/>
              </a:lnSpc>
            </a:pPr>
            <a:r>
              <a:rPr lang="en-US" sz="2770" spc="-83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The m</a:t>
            </a:r>
            <a:r>
              <a:rPr lang="en-US" sz="2770" spc="-83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ost signif</a:t>
            </a:r>
            <a:r>
              <a:rPr lang="en-US" sz="2770" spc="-83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icant proof</a:t>
            </a:r>
            <a:r>
              <a:rPr lang="en-US" sz="2770" spc="-83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of correct operation is the value of x17. For the processor to reach the value 23, the following must</a:t>
            </a:r>
            <a:r>
              <a:rPr lang="en-US" sz="2770" spc="-83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have occurred correctly: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500" t="0" r="-1250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400000">
            <a:off x="-358858" y="4907320"/>
            <a:ext cx="3247475" cy="472360"/>
          </a:xfrm>
          <a:custGeom>
            <a:avLst/>
            <a:gdLst/>
            <a:ahLst/>
            <a:cxnLst/>
            <a:rect r="r" b="b" t="t" l="l"/>
            <a:pathLst>
              <a:path h="472360" w="3247475">
                <a:moveTo>
                  <a:pt x="0" y="0"/>
                </a:moveTo>
                <a:lnTo>
                  <a:pt x="3247476" y="0"/>
                </a:lnTo>
                <a:lnTo>
                  <a:pt x="3247476" y="472360"/>
                </a:lnTo>
                <a:lnTo>
                  <a:pt x="0" y="47236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-5400000">
            <a:off x="15399382" y="4907320"/>
            <a:ext cx="3247475" cy="472360"/>
          </a:xfrm>
          <a:custGeom>
            <a:avLst/>
            <a:gdLst/>
            <a:ahLst/>
            <a:cxnLst/>
            <a:rect r="r" b="b" t="t" l="l"/>
            <a:pathLst>
              <a:path h="472360" w="3247475">
                <a:moveTo>
                  <a:pt x="0" y="472360"/>
                </a:moveTo>
                <a:lnTo>
                  <a:pt x="3247476" y="472360"/>
                </a:lnTo>
                <a:lnTo>
                  <a:pt x="3247476" y="0"/>
                </a:lnTo>
                <a:lnTo>
                  <a:pt x="0" y="0"/>
                </a:lnTo>
                <a:lnTo>
                  <a:pt x="0" y="47236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0800000">
            <a:off x="15921917" y="8100856"/>
            <a:ext cx="1337383" cy="1157444"/>
          </a:xfrm>
          <a:custGeom>
            <a:avLst/>
            <a:gdLst/>
            <a:ahLst/>
            <a:cxnLst/>
            <a:rect r="r" b="b" t="t" l="l"/>
            <a:pathLst>
              <a:path h="1157444" w="1337383">
                <a:moveTo>
                  <a:pt x="0" y="0"/>
                </a:moveTo>
                <a:lnTo>
                  <a:pt x="1337383" y="0"/>
                </a:lnTo>
                <a:lnTo>
                  <a:pt x="1337383" y="1157444"/>
                </a:lnTo>
                <a:lnTo>
                  <a:pt x="0" y="115744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-10800000">
            <a:off x="1028700" y="8081538"/>
            <a:ext cx="1337383" cy="1157444"/>
          </a:xfrm>
          <a:custGeom>
            <a:avLst/>
            <a:gdLst/>
            <a:ahLst/>
            <a:cxnLst/>
            <a:rect r="r" b="b" t="t" l="l"/>
            <a:pathLst>
              <a:path h="1157444" w="1337383">
                <a:moveTo>
                  <a:pt x="1337383" y="0"/>
                </a:moveTo>
                <a:lnTo>
                  <a:pt x="0" y="0"/>
                </a:lnTo>
                <a:lnTo>
                  <a:pt x="0" y="1157444"/>
                </a:lnTo>
                <a:lnTo>
                  <a:pt x="1337383" y="1157444"/>
                </a:lnTo>
                <a:lnTo>
                  <a:pt x="1337383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10800000">
            <a:off x="16996033" y="1028700"/>
            <a:ext cx="263267" cy="204391"/>
          </a:xfrm>
          <a:custGeom>
            <a:avLst/>
            <a:gdLst/>
            <a:ahLst/>
            <a:cxnLst/>
            <a:rect r="r" b="b" t="t" l="l"/>
            <a:pathLst>
              <a:path h="204391" w="263267">
                <a:moveTo>
                  <a:pt x="0" y="0"/>
                </a:moveTo>
                <a:lnTo>
                  <a:pt x="263267" y="0"/>
                </a:lnTo>
                <a:lnTo>
                  <a:pt x="263267" y="204391"/>
                </a:lnTo>
                <a:lnTo>
                  <a:pt x="0" y="20439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true" flipV="false" rot="-10800000">
            <a:off x="1028700" y="1028700"/>
            <a:ext cx="263267" cy="204391"/>
          </a:xfrm>
          <a:custGeom>
            <a:avLst/>
            <a:gdLst/>
            <a:ahLst/>
            <a:cxnLst/>
            <a:rect r="r" b="b" t="t" l="l"/>
            <a:pathLst>
              <a:path h="204391" w="263267">
                <a:moveTo>
                  <a:pt x="263267" y="0"/>
                </a:moveTo>
                <a:lnTo>
                  <a:pt x="0" y="0"/>
                </a:lnTo>
                <a:lnTo>
                  <a:pt x="0" y="204391"/>
                </a:lnTo>
                <a:lnTo>
                  <a:pt x="263267" y="204391"/>
                </a:lnTo>
                <a:lnTo>
                  <a:pt x="26326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2835963" y="3447612"/>
            <a:ext cx="12616074" cy="31631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590"/>
              </a:lnSpc>
            </a:pPr>
            <a:r>
              <a:rPr lang="en-US" sz="19386" spc="-949">
                <a:solidFill>
                  <a:srgbClr val="38B6FF"/>
                </a:solidFill>
                <a:latin typeface="Norwester"/>
                <a:ea typeface="Norwester"/>
                <a:cs typeface="Norwester"/>
                <a:sym typeface="Norwester"/>
              </a:rPr>
              <a:t>THANK YOU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015505" y="8719058"/>
            <a:ext cx="14256990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00"/>
              </a:lnSpc>
              <a:spcBef>
                <a:spcPct val="0"/>
              </a:spcBef>
            </a:pPr>
            <a:r>
              <a:rPr lang="en-US" b="true" sz="3000" spc="-89">
                <a:solidFill>
                  <a:srgbClr val="38B6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GitHub Repository: https://github.com/JomanaAmin/Computer-Architecture-Project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DAG809hPnx0</dc:identifier>
  <dcterms:modified xsi:type="dcterms:W3CDTF">2011-08-01T06:04:30Z</dcterms:modified>
  <cp:revision>1</cp:revision>
  <dc:title>Blue and Black Modern Technology Presentation</dc:title>
</cp:coreProperties>
</file>